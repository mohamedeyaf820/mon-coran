
<file path=[Content_Types].xml><?xml version="1.0" encoding="utf-8"?>
<Types xmlns="http://schemas.openxmlformats.org/package/2006/content-types"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37F0DCA-2992-463F-B77D-24837D9E0279}"/>
              </a:ext>
            </a:extLst>
          </p:cNvPr>
          <p:cNvSpPr/>
          <p:nvPr/>
        </p:nvSpPr>
        <p:spPr>
          <a:xfrm>
            <a:off x="8191500" y="1143000"/>
            <a:ext cx="3238500" cy="3238500"/>
          </a:xfrm>
          <a:prstGeom prst="donut">
            <a:avLst/>
          </a:prstGeom>
          <a:solidFill>
            <a:srgbClr val="0F33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BF0214A-F172-40EF-88A4-5F2AB131393C}"/>
              </a:ext>
            </a:extLst>
          </p:cNvPr>
          <p:cNvSpPr/>
          <p:nvPr/>
        </p:nvSpPr>
        <p:spPr>
          <a:xfrm>
            <a:off x="8667750" y="1619250"/>
            <a:ext cx="2286000" cy="2286000"/>
          </a:xfrm>
          <a:prstGeom prst="ellipse">
            <a:avLst/>
          </a:prstGeom>
          <a:solidFill>
            <a:srgbClr val="071F14"/>
          </a:solidFill>
          <a:ln w="15240">
            <a:solidFill>
              <a:srgbClr val="B2833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83FCF6B-E827-4E02-9F95-21FFDB6248B0}"/>
              </a:ext>
            </a:extLst>
          </p:cNvPr>
          <p:cNvSpPr/>
          <p:nvPr/>
        </p:nvSpPr>
        <p:spPr>
          <a:xfrm>
            <a:off x="9515475" y="2466975"/>
            <a:ext cx="590550" cy="590550"/>
          </a:xfrm>
          <a:prstGeom prst="pentagon">
            <a:avLst/>
          </a:prstGeom>
          <a:solidFill>
            <a:srgbClr val="B2833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7AFA4ED-EB4F-4FCB-A5E6-560D664B3244}"/>
              </a:ext>
            </a:extLst>
          </p:cNvPr>
          <p:cNvSpPr txBox="1"/>
          <p:nvPr/>
        </p:nvSpPr>
        <p:spPr>
          <a:xfrm>
            <a:off x="762000" y="1409700"/>
            <a:ext cx="66675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B28332"/>
                </a:solidFill>
                <a:latin typeface="Segoe UI"/>
                <a:ea typeface="Segoe UI"/>
              </a:rPr>
              <a:t>BENCHMARK PRODUIT ET DESIGN · 2 OCTOBRE 2026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9A3D61B-8E6D-46F6-9C9D-E01953A373E7}"/>
              </a:ext>
            </a:extLst>
          </p:cNvPr>
          <p:cNvSpPr txBox="1"/>
          <p:nvPr/>
        </p:nvSpPr>
        <p:spPr>
          <a:xfrm>
            <a:off x="762000" y="1809750"/>
            <a:ext cx="66675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5200">
                <a:solidFill>
                  <a:srgbClr val="F4EFE2"/>
                </a:solidFill>
                <a:latin typeface="Georgia"/>
                <a:ea typeface="Georgia"/>
              </a:rPr>
              <a:t>MushafPlus face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5200" i="1">
                <a:solidFill>
                  <a:srgbClr val="F4EFE2"/>
                </a:solidFill>
                <a:latin typeface="Georgia"/>
                <a:ea typeface="Georgia"/>
              </a:rPr>
              <a:t>à trois géants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53325CA-A488-406A-AED9-097A9F2F0280}"/>
              </a:ext>
            </a:extLst>
          </p:cNvPr>
          <p:cNvSpPr txBox="1"/>
          <p:nvPr/>
        </p:nvSpPr>
        <p:spPr>
          <a:xfrm>
            <a:off x="762000" y="3924300"/>
            <a:ext cx="66675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>
                <a:solidFill>
                  <a:srgbClr val="CFC9B8"/>
                </a:solidFill>
                <a:latin typeface="Segoe UI"/>
                <a:ea typeface="Segoe UI"/>
              </a:rPr>
              <a:t>Muslim Pro · Quran.com · Quran Majeed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>
                <a:solidFill>
                  <a:srgbClr val="8FA094"/>
                </a:solidFill>
                <a:latin typeface="Segoe UI"/>
                <a:ea typeface="Segoe UI"/>
              </a:rPr>
              <a:t>Fonctionnalités, langage visuel, écarts et priorités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11FC9CE-6961-4E14-9FF8-F7856E823D54}"/>
              </a:ext>
            </a:extLst>
          </p:cNvPr>
          <p:cNvSpPr/>
          <p:nvPr/>
        </p:nvSpPr>
        <p:spPr>
          <a:xfrm>
            <a:off x="762000" y="5143500"/>
            <a:ext cx="4095750" cy="800100"/>
          </a:xfrm>
          <a:prstGeom prst="roundRect">
            <a:avLst/>
          </a:prstGeom>
          <a:solidFill>
            <a:srgbClr val="0F3323"/>
          </a:solidFill>
          <a:ln w="12700">
            <a:solidFill>
              <a:srgbClr val="B2833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2D4406-0289-431B-B6A6-D671E58C4FA6}"/>
              </a:ext>
            </a:extLst>
          </p:cNvPr>
          <p:cNvSpPr txBox="1"/>
          <p:nvPr/>
        </p:nvSpPr>
        <p:spPr>
          <a:xfrm>
            <a:off x="990600" y="5295900"/>
            <a:ext cx="381000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B28332"/>
                </a:solidFill>
                <a:latin typeface="Georgia"/>
                <a:ea typeface="Georgia"/>
              </a:rPr>
              <a:t>2 langues contre 126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F546F55-546C-483E-B13B-B4240A8E9CA1}"/>
              </a:ext>
            </a:extLst>
          </p:cNvPr>
          <p:cNvSpPr txBox="1"/>
          <p:nvPr/>
        </p:nvSpPr>
        <p:spPr>
          <a:xfrm>
            <a:off x="990600" y="5710000"/>
            <a:ext cx="36195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FC9B8"/>
                </a:solidFill>
                <a:latin typeface="Segoe UI"/>
                <a:ea typeface="Segoe UI"/>
              </a:rPr>
              <a:t>traductions publiées chez Quran.com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E33C759-410D-4828-985B-7C3A6D5476A3}"/>
              </a:ext>
            </a:extLst>
          </p:cNvPr>
          <p:cNvSpPr txBox="1"/>
          <p:nvPr/>
        </p:nvSpPr>
        <p:spPr>
          <a:xfrm>
            <a:off x="5143500" y="5219700"/>
            <a:ext cx="3143250" cy="1016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>
                <a:solidFill>
                  <a:srgbClr val="8FA094"/>
                </a:solidFill>
                <a:latin typeface="Segoe UI"/>
                <a:ea typeface="Segoe UI"/>
              </a:rPr>
              <a:t>Aucun des trois concurrents ne propose le Warsh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>
                <a:solidFill>
                  <a:srgbClr val="8FA094"/>
                </a:solidFill>
                <a:latin typeface="Segoe UI"/>
                <a:ea typeface="Segoe UI"/>
              </a:rPr>
              <a:t>que nous livrons. C'est notre avantage le plus solide.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C181FBE-DA53-4345-8426-E28B995891E1}"/>
              </a:ext>
            </a:extLst>
          </p:cNvPr>
          <p:cNvSpPr txBox="1"/>
          <p:nvPr/>
        </p:nvSpPr>
        <p:spPr>
          <a:xfrm>
            <a:off x="762000" y="6238875"/>
            <a:ext cx="6667500" cy="285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5F7364"/>
                </a:solidFill>
                <a:latin typeface="Segoe UI"/>
                <a:ea typeface="Segoe UI"/>
              </a:rPr>
              <a:t>Veille web sourcée + lecture du dépôt · docs/CONCURRENT_BENCHMARK.md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76BAFA4-6380-45C2-BFAF-10B5DB9C477E}"/>
              </a:ext>
            </a:extLst>
          </p:cNvPr>
          <p:cNvSpPr txBox="1"/>
          <p:nvPr/>
        </p:nvSpPr>
        <p:spPr>
          <a:xfrm>
            <a:off x="762000" y="457200"/>
            <a:ext cx="6667500" cy="285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MÉTHODE ET FIABILITÉ DES PREUVES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055565B-BC94-4707-BF16-FCB7397E7E85}"/>
              </a:ext>
            </a:extLst>
          </p:cNvPr>
          <p:cNvSpPr txBox="1"/>
          <p:nvPr/>
        </p:nvSpPr>
        <p:spPr>
          <a:xfrm>
            <a:off x="762000" y="723900"/>
            <a:ext cx="9525000" cy="533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400">
                <a:solidFill>
                  <a:srgbClr val="14231A"/>
                </a:solidFill>
                <a:latin typeface="Georgia"/>
                <a:ea typeface="Georgia"/>
              </a:rPr>
              <a:t>Ce que ce document prouve, et comment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B617B6A-E5CB-4CAC-8609-17A870AAAAB0}"/>
              </a:ext>
            </a:extLst>
          </p:cNvPr>
          <p:cNvSpPr txBox="1"/>
          <p:nvPr/>
        </p:nvSpPr>
        <p:spPr>
          <a:xfrm>
            <a:off x="762000" y="1600200"/>
            <a:ext cx="53340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1400">
                <a:solidFill>
                  <a:srgbClr val="14231A"/>
                </a:solidFill>
                <a:latin typeface="Segoe UI"/>
                <a:ea typeface="Segoe UI"/>
              </a:rPr>
              <a:t>Concurrents : sites editeurs, bases de connaissances, fiches Google Play et App Store, depots GitHub, et feuilles de style de production pour mesurer couleurs et polices.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1400">
                <a:solidFill>
                  <a:srgbClr val="14231A"/>
                </a:solidFill>
                <a:latin typeface="Segoe UI"/>
                <a:ea typeface="Segoe UI"/>
              </a:rPr>
              <a:t>MushafPlus : lecture du depot lui-meme — src/i18n, src/data, src/services, src/styles, service worker et docs/.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1400">
                <a:solidFill>
                  <a:srgbClr val="5C6B60"/>
                </a:solidFill>
                <a:latin typeface="Segoe UI"/>
                <a:ea typeface="Segoe UI"/>
              </a:rPr>
              <a:t>Google Play, Softonic et apkpure bloquent la recuperation : leur contenu vient de miroirs ou d'extraits de recherche, et c'est dit.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>
                <a:solidFill>
                  <a:srgbClr val="5C6B60"/>
                </a:solidFill>
                <a:latin typeface="Segoe UI"/>
                <a:ea typeface="Segoe UI"/>
              </a:rPr>
              <a:t>Les revues comparees tierces sont traitees comme des indices, jamais comme des preuves. La ou l'editeur et un tiers se contredisent, le desaccord reste visible.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5C78F4A-DE95-4839-9ECC-B646C782EAA8}"/>
              </a:ext>
            </a:extLst>
          </p:cNvPr>
          <p:cNvSpPr/>
          <p:nvPr/>
        </p:nvSpPr>
        <p:spPr>
          <a:xfrm>
            <a:off x="6667500" y="1600200"/>
            <a:ext cx="4762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6DDBC82-A998-4691-9CAA-F8E6222D247C}"/>
              </a:ext>
            </a:extLst>
          </p:cNvPr>
          <p:cNvSpPr txBox="1"/>
          <p:nvPr/>
        </p:nvSpPr>
        <p:spPr>
          <a:xfrm>
            <a:off x="6953250" y="1828800"/>
            <a:ext cx="4191000" cy="285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6235"/>
                </a:solidFill>
                <a:latin typeface="Segoe UI"/>
                <a:ea typeface="Segoe UI"/>
              </a:rPr>
              <a:t>Comment lire les tableaux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03804CE-1703-4FC0-83EC-12BF3D19DF1F}"/>
              </a:ext>
            </a:extLst>
          </p:cNvPr>
          <p:cNvSpPr txBox="1"/>
          <p:nvPr/>
        </p:nvSpPr>
        <p:spPr>
          <a:xfrm>
            <a:off x="6953250" y="2209800"/>
            <a:ext cx="41910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0B6235"/>
                </a:solidFill>
                <a:latin typeface="Segoe UI"/>
                <a:ea typeface="Segoe UI"/>
              </a:rPr>
              <a:t>✓  </a:t>
            </a:r>
            <a:r>
              <a:rPr sz="1300">
                <a:solidFill>
                  <a:srgbClr val="14231A"/>
                </a:solidFill>
                <a:latin typeface="Segoe UI"/>
                <a:ea typeface="Segoe UI"/>
              </a:rPr>
              <a:t>présent et suffisant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B28332"/>
                </a:solidFill>
                <a:latin typeface="Segoe UI"/>
                <a:ea typeface="Segoe UI"/>
              </a:rPr>
              <a:t>~  </a:t>
            </a:r>
            <a:r>
              <a:rPr sz="1300">
                <a:solidFill>
                  <a:srgbClr val="14231A"/>
                </a:solidFill>
                <a:latin typeface="Segoe UI"/>
                <a:ea typeface="Segoe UI"/>
              </a:rPr>
              <a:t>présent mais partiel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5C6B60"/>
                </a:solidFill>
                <a:latin typeface="Segoe UI"/>
                <a:ea typeface="Segoe UI"/>
              </a:rPr>
              <a:t>—  </a:t>
            </a:r>
            <a:r>
              <a:rPr sz="1300">
                <a:solidFill>
                  <a:srgbClr val="14231A"/>
                </a:solidFill>
                <a:latin typeface="Segoe UI"/>
                <a:ea typeface="Segoe UI"/>
              </a:rPr>
              <a:t>absent, ou non propose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28332"/>
                </a:solidFill>
                <a:latin typeface="Segoe UI"/>
                <a:ea typeface="Segoe UI"/>
              </a:rPr>
              <a:t>N.C.  </a:t>
            </a:r>
            <a:r>
              <a:rPr sz="1300">
                <a:solidFill>
                  <a:srgbClr val="14231A"/>
                </a:solidFill>
                <a:latin typeface="Segoe UI"/>
                <a:ea typeface="Segoe UI"/>
              </a:rPr>
              <a:t>l'editeur ne le declare nulle part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a verifier sur le terrain avant d'en parler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V.A.  </a:t>
            </a:r>
            <a:r>
              <a:rPr sz="1300">
                <a:solidFill>
                  <a:srgbClr val="14231A"/>
                </a:solidFill>
                <a:latin typeface="Segoe UI"/>
                <a:ea typeface="Segoe UI"/>
              </a:rPr>
              <a:t>vérifié absent dans notre src/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recherche dans le code au moment de la redaction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FE8297A-D0A7-4DCA-9A02-929CD0A17584}"/>
              </a:ext>
            </a:extLst>
          </p:cNvPr>
          <p:cNvSpPr txBox="1"/>
          <p:nvPr/>
        </p:nvSpPr>
        <p:spPr>
          <a:xfrm>
            <a:off x="762000" y="5676900"/>
            <a:ext cx="10668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i="1">
                <a:solidFill>
                  <a:srgbClr val="5C6B60"/>
                </a:solidFill>
                <a:latin typeface="Segoe UI"/>
                <a:ea typeface="Segoe UI"/>
              </a:rPr>
              <a:t>Un chiffre exact chez un concurrent peut n'etre qu'une promesse marketing : la source est donnee pour chaque fait, et le document complet garde les URL.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87527B9-79F5-4A6E-932E-A83DD4467505}"/>
              </a:ext>
            </a:extLst>
          </p:cNvPr>
          <p:cNvSpPr txBox="1"/>
          <p:nvPr/>
        </p:nvSpPr>
        <p:spPr>
          <a:xfrm>
            <a:off x="762000" y="6477000"/>
            <a:ext cx="4762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D2A4FCB-6055-4F7A-87FC-2F2A03E4136E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8A70B8A-6A20-48AC-9AE7-03770FA6AF60}"/>
              </a:ext>
            </a:extLst>
          </p:cNvPr>
          <p:cNvSpPr txBox="1"/>
          <p:nvPr/>
        </p:nvSpPr>
        <p:spPr>
          <a:xfrm>
            <a:off x="762000" y="457200"/>
            <a:ext cx="6667500" cy="285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POSITIONNEMENT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426CCDD-6608-4A95-9DC3-CD348CD009EA}"/>
              </a:ext>
            </a:extLst>
          </p:cNvPr>
          <p:cNvSpPr txBox="1"/>
          <p:nvPr/>
        </p:nvSpPr>
        <p:spPr>
          <a:xfrm>
            <a:off x="762000" y="723900"/>
            <a:ext cx="9525000" cy="533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400">
                <a:solidFill>
                  <a:srgbClr val="14231A"/>
                </a:solidFill>
                <a:latin typeface="Georgia"/>
                <a:ea typeface="Georgia"/>
              </a:rPr>
              <a:t>Quatre modèles, quatre priorités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8BF1E48-4449-48B6-9CB7-6DB5BDB77B01}"/>
              </a:ext>
            </a:extLst>
          </p:cNvPr>
          <p:cNvSpPr/>
          <p:nvPr/>
        </p:nvSpPr>
        <p:spPr>
          <a:xfrm>
            <a:off x="762000" y="1524000"/>
            <a:ext cx="523875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967AEDE-A0AE-409A-9DDB-F21B46784381}"/>
              </a:ext>
            </a:extLst>
          </p:cNvPr>
          <p:cNvSpPr txBox="1"/>
          <p:nvPr/>
        </p:nvSpPr>
        <p:spPr>
          <a:xfrm>
            <a:off x="990600" y="1695450"/>
            <a:ext cx="4781550" cy="1619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6235"/>
                </a:solidFill>
                <a:latin typeface="Georgia"/>
                <a:ea typeface="Georgia"/>
              </a:rPr>
              <a:t>Muslim Pro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14231A"/>
                </a:solidFill>
                <a:latin typeface="Segoe UI"/>
                <a:ea typeface="Segoe UI"/>
              </a:rPr>
              <a:t>Freemium avec pub + Premium 12,99 $/mois ou 34,99 $/an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5C6B60"/>
                </a:solidFill>
                <a:latin typeface="Segoe UI"/>
                <a:ea typeface="Segoe UI"/>
              </a:rPr>
              <a:t>« 100 000 000+ » téléchargements · 4,7/5 sur 236 k avis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14231A"/>
                </a:solidFill>
                <a:latin typeface="Segoe UI"/>
                <a:ea typeface="Segoe UI"/>
              </a:rPr>
              <a:t>La prière et le quotidien. Le Coran est un module, pas le centre.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B28332"/>
                </a:solidFill>
                <a:latin typeface="Segoe UI"/>
                <a:ea typeface="Segoe UI"/>
              </a:rPr>
              <a:t>Ce qu'ils vendent : un guichet unique, payant.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4607567-78DE-44A8-B789-99811709CCED}"/>
              </a:ext>
            </a:extLst>
          </p:cNvPr>
          <p:cNvSpPr/>
          <p:nvPr/>
        </p:nvSpPr>
        <p:spPr>
          <a:xfrm>
            <a:off x="6191250" y="1524000"/>
            <a:ext cx="523875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D1678D2-D78C-4BFD-9965-CE2043C23578}"/>
              </a:ext>
            </a:extLst>
          </p:cNvPr>
          <p:cNvSpPr txBox="1"/>
          <p:nvPr/>
        </p:nvSpPr>
        <p:spPr>
          <a:xfrm>
            <a:off x="6419850" y="1695450"/>
            <a:ext cx="4781550" cy="1619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6235"/>
                </a:solidFill>
                <a:latin typeface="Georgia"/>
                <a:ea typeface="Georgia"/>
              </a:rPr>
              <a:t>Quran.com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14231A"/>
                </a:solidFill>
                <a:latin typeface="Segoe UI"/>
                <a:ea typeface="Segoe UI"/>
              </a:rPr>
              <a:t>Web ouvert, trust a but non lucratif, tout gratuit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5C6B60"/>
                </a:solidFill>
                <a:latin typeface="Segoe UI"/>
                <a:ea typeface="Segoe UI"/>
              </a:rPr>
              <a:t>Échelle non publiée · 126 traductions, ~20 tafsirs, API v4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14231A"/>
                </a:solidFill>
                <a:latin typeface="Segoe UI"/>
                <a:ea typeface="Segoe UI"/>
              </a:rPr>
              <a:t>L'étude du texte. Lecteur typographique, Hafs seulement.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B28332"/>
                </a:solidFill>
                <a:latin typeface="Segoe UI"/>
                <a:ea typeface="Segoe UI"/>
              </a:rPr>
              <a:t>Ce qu'ils vendent : la référence de données.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F3C5616-9FCA-4CB3-8D1A-36DCF31C5746}"/>
              </a:ext>
            </a:extLst>
          </p:cNvPr>
          <p:cNvSpPr/>
          <p:nvPr/>
        </p:nvSpPr>
        <p:spPr>
          <a:xfrm>
            <a:off x="762000" y="3581400"/>
            <a:ext cx="523875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82A7F86-DDF6-426B-BC0F-471F49E40309}"/>
              </a:ext>
            </a:extLst>
          </p:cNvPr>
          <p:cNvSpPr txBox="1"/>
          <p:nvPr/>
        </p:nvSpPr>
        <p:spPr>
          <a:xfrm>
            <a:off x="990600" y="3752850"/>
            <a:ext cx="4781550" cy="1619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6235"/>
                </a:solidFill>
                <a:latin typeface="Georgia"/>
                <a:ea typeface="Georgia"/>
              </a:rPr>
              <a:t>Quran Majeed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14231A"/>
                </a:solidFill>
                <a:latin typeface="Segoe UI"/>
                <a:ea typeface="Segoe UI"/>
              </a:rPr>
              <a:t>Freemium avec pub + 4,99 $/mois, achats a l'acte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5C6B60"/>
                </a:solidFill>
                <a:latin typeface="Segoe UI"/>
                <a:ea typeface="Segoe UI"/>
              </a:rPr>
              <a:t>« 100 M+ downloads, 30 M+ utilisateurs/jour » déclarés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14231A"/>
                </a:solidFill>
                <a:latin typeface="Segoe UI"/>
                <a:ea typeface="Segoe UI"/>
              </a:rPr>
              <a:t>La fidélité au mushaf papier et l'audio, en natif.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B28332"/>
                </a:solidFill>
                <a:latin typeface="Segoe UI"/>
                <a:ea typeface="Segoe UI"/>
              </a:rPr>
              <a:t>Ce qu'ils vendent : une expérience « livre ».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582C47E-02DF-4DD8-9A03-70882322215D}"/>
              </a:ext>
            </a:extLst>
          </p:cNvPr>
          <p:cNvSpPr/>
          <p:nvPr/>
        </p:nvSpPr>
        <p:spPr>
          <a:xfrm>
            <a:off x="6191250" y="3581400"/>
            <a:ext cx="5238750" cy="1905000"/>
          </a:xfrm>
          <a:prstGeom prst="roundRect">
            <a:avLst/>
          </a:prstGeom>
          <a:solidFill>
            <a:srgbClr val="0B62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DE0C1B6-7D48-407D-8048-1909A2D39250}"/>
              </a:ext>
            </a:extLst>
          </p:cNvPr>
          <p:cNvSpPr txBox="1"/>
          <p:nvPr/>
        </p:nvSpPr>
        <p:spPr>
          <a:xfrm>
            <a:off x="6419850" y="3752850"/>
            <a:ext cx="4781550" cy="1619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6F2E8"/>
                </a:solidFill>
                <a:latin typeface="Georgia"/>
                <a:ea typeface="Georgia"/>
              </a:rPr>
              <a:t>MushafPlus — nous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E7DFCB"/>
                </a:solidFill>
                <a:latin typeface="Segoe UI"/>
                <a:ea typeface="Segoe UI"/>
              </a:rPr>
              <a:t>Gratuit, sans compte, sans publicité, installable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AFC6B7"/>
                </a:solidFill>
                <a:latin typeface="Segoe UI"/>
                <a:ea typeface="Segoe UI"/>
              </a:rPr>
              <a:t>Hafs + Warsh, 54 récitants, Coran hors ligne entier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>
                <a:solidFill>
                  <a:srgbClr val="E7DFCB"/>
                </a:solidFill>
                <a:latin typeface="Segoe UI"/>
                <a:ea typeface="Segoe UI"/>
              </a:rPr>
              <a:t>L'intégrité du texte et la continuité de lecture.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E9C97A"/>
                </a:solidFill>
                <a:latin typeface="Segoe UI"/>
                <a:ea typeface="Segoe UI"/>
              </a:rPr>
              <a:t>Ce que nous vendons : un mushaf fiable, privé.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C9F3AED-B2E3-47A5-8CED-5ECC1829FB29}"/>
              </a:ext>
            </a:extLst>
          </p:cNvPr>
          <p:cNvSpPr txBox="1"/>
          <p:nvPr/>
        </p:nvSpPr>
        <p:spPr>
          <a:xfrm>
            <a:off x="762000" y="5715000"/>
            <a:ext cx="10668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i="1">
                <a:solidFill>
                  <a:srgbClr val="5C6B60"/>
                </a:solidFill>
                <a:latin typeface="Segoe UI"/>
                <a:ea typeface="Segoe UI"/>
              </a:rPr>
              <a:t>Lecture : trois modèles économiques différents, un seul objet — le Coran lui-même. Nos trois comparateurs ont payé leur échelle par la publicité ou par un compte ; c'est le seul choix que nous refusons.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0631D2A-73B8-4DF8-B774-4F7C55F303AF}"/>
              </a:ext>
            </a:extLst>
          </p:cNvPr>
          <p:cNvSpPr txBox="1"/>
          <p:nvPr/>
        </p:nvSpPr>
        <p:spPr>
          <a:xfrm>
            <a:off x="762000" y="6477000"/>
            <a:ext cx="4762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2EBDD64-5090-473C-B3B1-593C7DB776DB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4EA8785-27D8-4D12-A30E-B9C4B0AB61F5}"/>
              </a:ext>
            </a:extLst>
          </p:cNvPr>
          <p:cNvSpPr txBox="1"/>
          <p:nvPr/>
        </p:nvSpPr>
        <p:spPr>
          <a:xfrm>
            <a:off x="762000" y="4191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CORAN · 1/3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BD2DBF6-BC43-4B7F-95D7-698EBB304498}"/>
              </a:ext>
            </a:extLst>
          </p:cNvPr>
          <p:cNvSpPr txBox="1"/>
          <p:nvPr/>
        </p:nvSpPr>
        <p:spPr>
          <a:xfrm>
            <a:off x="762000" y="685800"/>
            <a:ext cx="57150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Lecture et texte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3519CF9-9864-4E1E-9A5E-302DEB0A4A9E}"/>
              </a:ext>
            </a:extLst>
          </p:cNvPr>
          <p:cNvSpPr txBox="1"/>
          <p:nvPr/>
        </p:nvSpPr>
        <p:spPr>
          <a:xfrm>
            <a:off x="990600" y="1333500"/>
            <a:ext cx="238125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CAPACITÉ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75C6C39-93EA-43F4-816E-BFCE31126258}"/>
              </a:ext>
            </a:extLst>
          </p:cNvPr>
          <p:cNvSpPr txBox="1"/>
          <p:nvPr/>
        </p:nvSpPr>
        <p:spPr>
          <a:xfrm>
            <a:off x="3524250" y="133350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6235"/>
                </a:solidFill>
                <a:latin typeface="Segoe UI"/>
                <a:ea typeface="Segoe UI"/>
              </a:rPr>
              <a:t>MUSHAFLPLUS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31A2E78-50C0-40CC-A920-FEF29C8565BA}"/>
              </a:ext>
            </a:extLst>
          </p:cNvPr>
          <p:cNvSpPr txBox="1"/>
          <p:nvPr/>
        </p:nvSpPr>
        <p:spPr>
          <a:xfrm>
            <a:off x="6572250" y="1333500"/>
            <a:ext cx="466725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MUSLIM PRO · QURAN.COM · QURAN MAJEED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24C257E-6A6C-430E-93FD-EB9988356693}"/>
              </a:ext>
            </a:extLst>
          </p:cNvPr>
          <p:cNvSpPr/>
          <p:nvPr/>
        </p:nvSpPr>
        <p:spPr>
          <a:xfrm>
            <a:off x="762000" y="15811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A88DB59-946A-4C59-9A20-2670EFCF611E}"/>
              </a:ext>
            </a:extLst>
          </p:cNvPr>
          <p:cNvSpPr txBox="1"/>
          <p:nvPr/>
        </p:nvSpPr>
        <p:spPr>
          <a:xfrm>
            <a:off x="990600" y="1657350"/>
            <a:ext cx="2381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Rendu du mushaf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8C165D-E1BA-4736-9F8D-1223FE1A8281}"/>
              </a:ext>
            </a:extLst>
          </p:cNvPr>
          <p:cNvSpPr txBox="1"/>
          <p:nvPr/>
        </p:nvSpPr>
        <p:spPr>
          <a:xfrm>
            <a:off x="3524250" y="1657350"/>
            <a:ext cx="2857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page paginée + liste + plein écran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5A82018-E05E-4F33-9129-3D1F289ADF3F}"/>
              </a:ext>
            </a:extLst>
          </p:cNvPr>
          <p:cNvSpPr txBox="1"/>
          <p:nvPr/>
        </p:nvSpPr>
        <p:spPr>
          <a:xfrm>
            <a:off x="6572250" y="1657350"/>
            <a:ext cx="4667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page/liste   ·   QC ✓ typographique, sans scan   ·   QM ✓ pages feuilletées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D3755DF-CCB2-4694-AF2F-387795B62E33}"/>
              </a:ext>
            </a:extLst>
          </p:cNvPr>
          <p:cNvSpPr/>
          <p:nvPr/>
        </p:nvSpPr>
        <p:spPr>
          <a:xfrm>
            <a:off x="762000" y="22669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036A1A3-503F-4E7E-BE54-A1F8B406F13F}"/>
              </a:ext>
            </a:extLst>
          </p:cNvPr>
          <p:cNvSpPr txBox="1"/>
          <p:nvPr/>
        </p:nvSpPr>
        <p:spPr>
          <a:xfrm>
            <a:off x="990600" y="2343150"/>
            <a:ext cx="2381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Riwayas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67F0EBA-1DBC-48AB-8CFE-608EFB31BBEF}"/>
              </a:ext>
            </a:extLst>
          </p:cNvPr>
          <p:cNvSpPr txBox="1"/>
          <p:nvPr/>
        </p:nvSpPr>
        <p:spPr>
          <a:xfrm>
            <a:off x="3524250" y="2343150"/>
            <a:ext cx="2857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Hafs + Warsh, mode strict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EFA4409-C9C9-452A-AF83-454B772E5F6E}"/>
              </a:ext>
            </a:extLst>
          </p:cNvPr>
          <p:cNvSpPr txBox="1"/>
          <p:nvPr/>
        </p:nvSpPr>
        <p:spPr>
          <a:xfrm>
            <a:off x="6572250" y="2343150"/>
            <a:ext cx="4667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— N.C.   ·   QC — Hafs seul, API v4   ·   QM ~ polices, pas riwayas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76BC53F-E31A-4DF7-AE0D-D92BAD4F92FA}"/>
              </a:ext>
            </a:extLst>
          </p:cNvPr>
          <p:cNvSpPr/>
          <p:nvPr/>
        </p:nvSpPr>
        <p:spPr>
          <a:xfrm>
            <a:off x="762000" y="29527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A272D8A-D2CF-45C8-B156-C86D55F28D97}"/>
              </a:ext>
            </a:extLst>
          </p:cNvPr>
          <p:cNvSpPr txBox="1"/>
          <p:nvPr/>
        </p:nvSpPr>
        <p:spPr>
          <a:xfrm>
            <a:off x="990600" y="3028950"/>
            <a:ext cx="2381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Polices coraniques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DA3B7E1-A5A8-4FF1-BAB6-3A9AE3F36B72}"/>
              </a:ext>
            </a:extLst>
          </p:cNvPr>
          <p:cNvSpPr txBox="1"/>
          <p:nvPr/>
        </p:nvSpPr>
        <p:spPr>
          <a:xfrm>
            <a:off x="3524250" y="3028950"/>
            <a:ext cx="2857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5 Hafs + 2 Warsh, auto-hebergées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139981F-58D2-40E9-BAF0-BB5C31EC5E91}"/>
              </a:ext>
            </a:extLst>
          </p:cNvPr>
          <p:cNvSpPr txBox="1"/>
          <p:nvPr/>
        </p:nvSpPr>
        <p:spPr>
          <a:xfrm>
            <a:off x="6572250" y="3028950"/>
            <a:ext cx="4667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3 textes   ·   QC ✓ 4 scripts   ·   QM ✓ 3 rasm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213B8C7E-478F-4049-9A5B-787E6885D8BB}"/>
              </a:ext>
            </a:extLst>
          </p:cNvPr>
          <p:cNvSpPr/>
          <p:nvPr/>
        </p:nvSpPr>
        <p:spPr>
          <a:xfrm>
            <a:off x="762000" y="36385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F14DE14-539F-41FC-A462-E264BDF81C90}"/>
              </a:ext>
            </a:extLst>
          </p:cNvPr>
          <p:cNvSpPr txBox="1"/>
          <p:nvPr/>
        </p:nvSpPr>
        <p:spPr>
          <a:xfrm>
            <a:off x="990600" y="3714750"/>
            <a:ext cx="2381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Tajwid coloré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2998B12-1D02-4001-B05A-CAE268C15488}"/>
              </a:ext>
            </a:extLst>
          </p:cNvPr>
          <p:cNvSpPr txBox="1"/>
          <p:nvPr/>
        </p:nvSpPr>
        <p:spPr>
          <a:xfrm>
            <a:off x="3524250" y="3714750"/>
            <a:ext cx="2857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~15 règles, gratuit, légende + guide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1631ECE-F08E-4CB1-B227-C60E8E30CE94}"/>
              </a:ext>
            </a:extLst>
          </p:cNvPr>
          <p:cNvSpPr txBox="1"/>
          <p:nvPr/>
        </p:nvSpPr>
        <p:spPr>
          <a:xfrm>
            <a:off x="6572250" y="3714750"/>
            <a:ext cx="4667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~ sources contradictoires   ·   QC ✓ + barre de légende   ·   QM ~ revue tierce seule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815513F-E048-404B-AFD1-147EC4B300E0}"/>
              </a:ext>
            </a:extLst>
          </p:cNvPr>
          <p:cNvSpPr/>
          <p:nvPr/>
        </p:nvSpPr>
        <p:spPr>
          <a:xfrm>
            <a:off x="762000" y="43243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555CE2E-CB58-4646-A7A0-2BFD98465465}"/>
              </a:ext>
            </a:extLst>
          </p:cNvPr>
          <p:cNvSpPr txBox="1"/>
          <p:nvPr/>
        </p:nvSpPr>
        <p:spPr>
          <a:xfrm>
            <a:off x="990600" y="4400550"/>
            <a:ext cx="2381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Mot a mot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B7686F8-4828-4E8E-8505-76ADE5EE7B4C}"/>
              </a:ext>
            </a:extLst>
          </p:cNvPr>
          <p:cNvSpPr txBox="1"/>
          <p:nvPr/>
        </p:nvSpPr>
        <p:spPr>
          <a:xfrm>
            <a:off x="3524250" y="4400550"/>
            <a:ext cx="2857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translitteration + audio par mot (Hafs)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9430DE5-AC2E-4F65-A340-F5D086504E23}"/>
              </a:ext>
            </a:extLst>
          </p:cNvPr>
          <p:cNvSpPr txBox="1"/>
          <p:nvPr/>
        </p:nvSpPr>
        <p:spPr>
          <a:xfrm>
            <a:off x="6572250" y="4400550"/>
            <a:ext cx="4667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  ·   QC ✓ + analyse morphologique   ·   QM ✓ audio depuis v10.9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D8572A45-373B-4E6C-923F-23B531F716B0}"/>
              </a:ext>
            </a:extLst>
          </p:cNvPr>
          <p:cNvSpPr/>
          <p:nvPr/>
        </p:nvSpPr>
        <p:spPr>
          <a:xfrm>
            <a:off x="762000" y="50101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FC8890E4-EEE8-4B94-B736-312EFE1C65E5}"/>
              </a:ext>
            </a:extLst>
          </p:cNvPr>
          <p:cNvSpPr txBox="1"/>
          <p:nvPr/>
        </p:nvSpPr>
        <p:spPr>
          <a:xfrm>
            <a:off x="990600" y="5086350"/>
            <a:ext cx="2381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Traductions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092012C-EFC7-4E59-BD0A-658927FAF63B}"/>
              </a:ext>
            </a:extLst>
          </p:cNvPr>
          <p:cNvSpPr txBox="1"/>
          <p:nvPr/>
        </p:nvSpPr>
        <p:spPr>
          <a:xfrm>
            <a:off x="3524250" y="5086350"/>
            <a:ext cx="2857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B28332"/>
                </a:solidFill>
                <a:latin typeface="Segoe UI"/>
                <a:ea typeface="Segoe UI"/>
              </a:rPr>
              <a:t>~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FR + EN, + editions Warsh dediees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4B418100-4DEE-419A-8483-6C2551592B11}"/>
              </a:ext>
            </a:extLst>
          </p:cNvPr>
          <p:cNvSpPr txBox="1"/>
          <p:nvPr/>
        </p:nvSpPr>
        <p:spPr>
          <a:xfrm>
            <a:off x="6572250" y="5086350"/>
            <a:ext cx="46672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40+ langues   ·   QC ✓ 126 traductions / 69 langues   ·   QM ✓ 50 langues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2E5AA03-0A86-44C5-93C2-BEC30948F0AB}"/>
              </a:ext>
            </a:extLst>
          </p:cNvPr>
          <p:cNvSpPr txBox="1"/>
          <p:nvPr/>
        </p:nvSpPr>
        <p:spPr>
          <a:xfrm>
            <a:off x="762000" y="577215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Lecture : au niveau sur le rendu, en tete sur la transmission, en retrait sur la largeur de l'offre.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F5B1723B-FBAF-431F-9576-05085D92066B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EA6DF35-8829-4C4B-B2CE-A7EB481CEA5A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A53C630-9E35-4D7D-ACE1-9FC4649F0327}"/>
              </a:ext>
            </a:extLst>
          </p:cNvPr>
          <p:cNvSpPr txBox="1"/>
          <p:nvPr/>
        </p:nvSpPr>
        <p:spPr>
          <a:xfrm>
            <a:off x="762000" y="4191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CORAN · 2/3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20EF4F9-4FD7-440E-A8FF-DA95F1E80DD3}"/>
              </a:ext>
            </a:extLst>
          </p:cNvPr>
          <p:cNvSpPr txBox="1"/>
          <p:nvPr/>
        </p:nvSpPr>
        <p:spPr>
          <a:xfrm>
            <a:off x="762000" y="685800"/>
            <a:ext cx="57150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Étude et données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B4D0BBB-3358-44B8-926A-EBD94628C8A3}"/>
              </a:ext>
            </a:extLst>
          </p:cNvPr>
          <p:cNvSpPr txBox="1"/>
          <p:nvPr/>
        </p:nvSpPr>
        <p:spPr>
          <a:xfrm>
            <a:off x="990600" y="1333500"/>
            <a:ext cx="238125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CAPACITÉ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1E967A-D2B9-46CA-8993-93F0D4E7E781}"/>
              </a:ext>
            </a:extLst>
          </p:cNvPr>
          <p:cNvSpPr txBox="1"/>
          <p:nvPr/>
        </p:nvSpPr>
        <p:spPr>
          <a:xfrm>
            <a:off x="3524250" y="133350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6235"/>
                </a:solidFill>
                <a:latin typeface="Segoe UI"/>
                <a:ea typeface="Segoe UI"/>
              </a:rPr>
              <a:t>MUSHAFLPLUS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24048F-3189-4CCD-8BE9-E4E7E580C55F}"/>
              </a:ext>
            </a:extLst>
          </p:cNvPr>
          <p:cNvSpPr txBox="1"/>
          <p:nvPr/>
        </p:nvSpPr>
        <p:spPr>
          <a:xfrm>
            <a:off x="6572250" y="1333500"/>
            <a:ext cx="466725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MUSLIM PRO · QURAN.COM · QURAN MAJEED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87B6D43-3D37-4EA6-9958-692D4D298689}"/>
              </a:ext>
            </a:extLst>
          </p:cNvPr>
          <p:cNvSpPr/>
          <p:nvPr/>
        </p:nvSpPr>
        <p:spPr>
          <a:xfrm>
            <a:off x="762000" y="15811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6D1BABB-545F-4E8C-B1DB-668E49543854}"/>
              </a:ext>
            </a:extLst>
          </p:cNvPr>
          <p:cNvSpPr txBox="1"/>
          <p:nvPr/>
        </p:nvSpPr>
        <p:spPr>
          <a:xfrm>
            <a:off x="990600" y="17145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Tafsirs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6A99F18-6578-4E4A-A600-6D75C1506687}"/>
              </a:ext>
            </a:extLst>
          </p:cNvPr>
          <p:cNvSpPr txBox="1"/>
          <p:nvPr/>
        </p:nvSpPr>
        <p:spPr>
          <a:xfrm>
            <a:off x="3524250" y="17145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8, dont 1 en francais hors ligne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53575F4-70BC-4360-84BB-2EF24471A6A3}"/>
              </a:ext>
            </a:extLst>
          </p:cNvPr>
          <p:cNvSpPr txBox="1"/>
          <p:nvPr/>
        </p:nvSpPr>
        <p:spPr>
          <a:xfrm>
            <a:off x="6572250" y="17145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~ aucune œuvre citée   ·   QC ✓ ~20   ·   QM ✓ 4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171C243-A478-4633-9588-984642E55A86}"/>
              </a:ext>
            </a:extLst>
          </p:cNvPr>
          <p:cNvSpPr/>
          <p:nvPr/>
        </p:nvSpPr>
        <p:spPr>
          <a:xfrm>
            <a:off x="762000" y="22669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A3BFE70-3149-4367-84E8-0B350CAAC74D}"/>
              </a:ext>
            </a:extLst>
          </p:cNvPr>
          <p:cNvSpPr txBox="1"/>
          <p:nvPr/>
        </p:nvSpPr>
        <p:spPr>
          <a:xfrm>
            <a:off x="990600" y="24003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Translittération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E47C65-BB8D-4F17-AE35-DDEB6A7B8E0A}"/>
              </a:ext>
            </a:extLst>
          </p:cNvPr>
          <p:cNvSpPr txBox="1"/>
          <p:nvPr/>
        </p:nvSpPr>
        <p:spPr>
          <a:xfrm>
            <a:off x="3524250" y="24003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EN hors ligne, pas en Warsh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C4D7CFE-A633-471A-A697-D24D6A3BE8AC}"/>
              </a:ext>
            </a:extLst>
          </p:cNvPr>
          <p:cNvSpPr txBox="1"/>
          <p:nvPr/>
        </p:nvSpPr>
        <p:spPr>
          <a:xfrm>
            <a:off x="6572250" y="24003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N.C.   ·   QC ✓   ·   QM ✓ en anglais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32C29992-8D40-4EF6-85D1-2F61D4830470}"/>
              </a:ext>
            </a:extLst>
          </p:cNvPr>
          <p:cNvSpPr/>
          <p:nvPr/>
        </p:nvSpPr>
        <p:spPr>
          <a:xfrm>
            <a:off x="762000" y="29527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45F96BE-04EA-43E4-86DC-2FE816F1E0A3}"/>
              </a:ext>
            </a:extLst>
          </p:cNvPr>
          <p:cNvSpPr txBox="1"/>
          <p:nvPr/>
        </p:nvSpPr>
        <p:spPr>
          <a:xfrm>
            <a:off x="990600" y="30861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Recherche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183A76A-67E3-4247-9D1B-B325DF8CC37B}"/>
              </a:ext>
            </a:extLst>
          </p:cNvPr>
          <p:cNvSpPr txBox="1"/>
          <p:nvPr/>
        </p:nvSpPr>
        <p:spPr>
          <a:xfrm>
            <a:off x="3524250" y="30861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arabe + phonétique + traductions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055ED5D-E57A-4EF7-B53B-25E119DE2651}"/>
              </a:ext>
            </a:extLst>
          </p:cNvPr>
          <p:cNvSpPr txBox="1"/>
          <p:nvPr/>
        </p:nvSpPr>
        <p:spPr>
          <a:xfrm>
            <a:off x="6572250" y="30861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texte   ·   QC ✓ texte + traductions   ·   QM ✓ par racines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DB27714-508D-46B6-9F1B-9F23ADC5E865}"/>
              </a:ext>
            </a:extLst>
          </p:cNvPr>
          <p:cNvSpPr/>
          <p:nvPr/>
        </p:nvSpPr>
        <p:spPr>
          <a:xfrm>
            <a:off x="762000" y="36385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3D315A7-0E59-4BD7-9246-F291B4B1C4EE}"/>
              </a:ext>
            </a:extLst>
          </p:cNvPr>
          <p:cNvSpPr txBox="1"/>
          <p:nvPr/>
        </p:nvSpPr>
        <p:spPr>
          <a:xfrm>
            <a:off x="990600" y="37719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Recherche vocale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ADC9AA8-FEEE-4042-A3F3-3C9ADEF8167C}"/>
              </a:ext>
            </a:extLst>
          </p:cNvPr>
          <p:cNvSpPr txBox="1"/>
          <p:nvPr/>
        </p:nvSpPr>
        <p:spPr>
          <a:xfrm>
            <a:off x="3524250" y="37719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AR / FR / EN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FD35F60-E67F-48CD-82E9-597394569E2B}"/>
              </a:ext>
            </a:extLst>
          </p:cNvPr>
          <p:cNvSpPr txBox="1"/>
          <p:nvPr/>
        </p:nvSpPr>
        <p:spPr>
          <a:xfrm>
            <a:off x="6572250" y="37719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  ·   QC —   ·   QM —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7765D309-1CFE-4D47-9BE5-4DCBF1966FAA}"/>
              </a:ext>
            </a:extLst>
          </p:cNvPr>
          <p:cNvSpPr/>
          <p:nvPr/>
        </p:nvSpPr>
        <p:spPr>
          <a:xfrm>
            <a:off x="762000" y="43243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B2C45C7-032E-42FC-8099-A30111B29A6B}"/>
              </a:ext>
            </a:extLst>
          </p:cNvPr>
          <p:cNvSpPr txBox="1"/>
          <p:nvPr/>
        </p:nvSpPr>
        <p:spPr>
          <a:xfrm>
            <a:off x="990600" y="44577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Signets et notes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2F1AAB1-7604-46ED-9307-C006EB46928A}"/>
              </a:ext>
            </a:extLst>
          </p:cNvPr>
          <p:cNvSpPr txBox="1"/>
          <p:nvPr/>
        </p:nvSpPr>
        <p:spPr>
          <a:xfrm>
            <a:off x="3524250" y="44577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chiffrés en local, sans compte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47B8B64-B66A-4EBE-916D-A035B52B99AC}"/>
              </a:ext>
            </a:extLst>
          </p:cNvPr>
          <p:cNvSpPr txBox="1"/>
          <p:nvPr/>
        </p:nvSpPr>
        <p:spPr>
          <a:xfrm>
            <a:off x="6572250" y="44577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+ playlists   ·   QC ✓ + surlignages   ·   QM ✓ + iCloud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2359CD0E-2FAF-484D-BF0A-29F05E25D174}"/>
              </a:ext>
            </a:extLst>
          </p:cNvPr>
          <p:cNvSpPr/>
          <p:nvPr/>
        </p:nvSpPr>
        <p:spPr>
          <a:xfrm>
            <a:off x="762000" y="50101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50A2327-73E7-47D1-80D2-69468250E641}"/>
              </a:ext>
            </a:extLst>
          </p:cNvPr>
          <p:cNvSpPr txBox="1"/>
          <p:nvPr/>
        </p:nvSpPr>
        <p:spPr>
          <a:xfrm>
            <a:off x="990600" y="51435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Export des données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5FB8D7B-5D41-43F6-A1E4-F0E702F8D77B}"/>
              </a:ext>
            </a:extLst>
          </p:cNvPr>
          <p:cNvSpPr txBox="1"/>
          <p:nvPr/>
        </p:nvSpPr>
        <p:spPr>
          <a:xfrm>
            <a:off x="3524250" y="51435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export + import JSON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18FEE03-3DDE-440F-A28E-DBE3A7240875}"/>
              </a:ext>
            </a:extLst>
          </p:cNvPr>
          <p:cNvSpPr txBox="1"/>
          <p:nvPr/>
        </p:nvSpPr>
        <p:spPr>
          <a:xfrm>
            <a:off x="6572250" y="51435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— non documenté   ·   QC ~ via compte   ·   QM ~ via iCloud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967CF16B-8BA9-4B37-B2E5-FFC0E3108F84}"/>
              </a:ext>
            </a:extLst>
          </p:cNvPr>
          <p:cNvSpPr txBox="1"/>
          <p:nvPr/>
        </p:nvSpPr>
        <p:spPr>
          <a:xfrm>
            <a:off x="762000" y="577215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Lecture : l'étude privée sans compte nous est propre ; la recherche dans le tafsir et l'index hors ligne restent ouverts.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DBB8CC2-88EF-48EE-A173-8811EB7DECBF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CDCEFE3-162E-499A-8B47-75F7EFD6B780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3D6EB86-E9D3-4412-A2AA-0C17E5FA4B4A}"/>
              </a:ext>
            </a:extLst>
          </p:cNvPr>
          <p:cNvSpPr txBox="1"/>
          <p:nvPr/>
        </p:nvSpPr>
        <p:spPr>
          <a:xfrm>
            <a:off x="762000" y="4191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CORAN · 3/3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860A054-2CC3-406F-A66A-506FD7E66956}"/>
              </a:ext>
            </a:extLst>
          </p:cNvPr>
          <p:cNvSpPr txBox="1"/>
          <p:nvPr/>
        </p:nvSpPr>
        <p:spPr>
          <a:xfrm>
            <a:off x="762000" y="685800"/>
            <a:ext cx="66675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Audio et mémorisation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223AEF4-4DC0-4451-ADAC-BCF6C2E91C96}"/>
              </a:ext>
            </a:extLst>
          </p:cNvPr>
          <p:cNvSpPr txBox="1"/>
          <p:nvPr/>
        </p:nvSpPr>
        <p:spPr>
          <a:xfrm>
            <a:off x="990600" y="1333500"/>
            <a:ext cx="238125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CAPACITÉ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7942380-169F-432F-A75C-2CDBBE8B4086}"/>
              </a:ext>
            </a:extLst>
          </p:cNvPr>
          <p:cNvSpPr txBox="1"/>
          <p:nvPr/>
        </p:nvSpPr>
        <p:spPr>
          <a:xfrm>
            <a:off x="3524250" y="133350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6235"/>
                </a:solidFill>
                <a:latin typeface="Segoe UI"/>
                <a:ea typeface="Segoe UI"/>
              </a:rPr>
              <a:t>MUSHAFLPLUS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646ABB3-8887-4C51-A8B5-4B6D88A93489}"/>
              </a:ext>
            </a:extLst>
          </p:cNvPr>
          <p:cNvSpPr txBox="1"/>
          <p:nvPr/>
        </p:nvSpPr>
        <p:spPr>
          <a:xfrm>
            <a:off x="6572250" y="1333500"/>
            <a:ext cx="466725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MUSLIM PRO · QURAN.COM · QURAN MAJEED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2CF5240-D3EF-4F21-8376-8EF8A20E4933}"/>
              </a:ext>
            </a:extLst>
          </p:cNvPr>
          <p:cNvSpPr/>
          <p:nvPr/>
        </p:nvSpPr>
        <p:spPr>
          <a:xfrm>
            <a:off x="762000" y="15811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21BDE52-7474-4B11-9B8F-5B6972BFF090}"/>
              </a:ext>
            </a:extLst>
          </p:cNvPr>
          <p:cNvSpPr txBox="1"/>
          <p:nvPr/>
        </p:nvSpPr>
        <p:spPr>
          <a:xfrm>
            <a:off x="990600" y="17145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Récitateurs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D81876C-5ED6-44A8-BC5A-341162B65C94}"/>
              </a:ext>
            </a:extLst>
          </p:cNvPr>
          <p:cNvSpPr txBox="1"/>
          <p:nvPr/>
        </p:nvSpPr>
        <p:spPr>
          <a:xfrm>
            <a:off x="3524250" y="17145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54 — 46 Hafs + 8 Warsh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2C5E29F-1A16-4158-B1DC-C0A5B92F6B48}"/>
              </a:ext>
            </a:extLst>
          </p:cNvPr>
          <p:cNvSpPr txBox="1"/>
          <p:nvPr/>
        </p:nvSpPr>
        <p:spPr>
          <a:xfrm>
            <a:off x="6572250" y="17145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8 nommés   ·   QC 9, Hafs seulement   ·   QM 14 à 30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FA40634-9823-4D88-B6EE-AD5129DFCCC9}"/>
              </a:ext>
            </a:extLst>
          </p:cNvPr>
          <p:cNvSpPr/>
          <p:nvPr/>
        </p:nvSpPr>
        <p:spPr>
          <a:xfrm>
            <a:off x="762000" y="22669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E8585ED-5A0D-463B-8D4E-C6E859B10CC7}"/>
              </a:ext>
            </a:extLst>
          </p:cNvPr>
          <p:cNvSpPr txBox="1"/>
          <p:nvPr/>
        </p:nvSpPr>
        <p:spPr>
          <a:xfrm>
            <a:off x="990600" y="24003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Audio hors ligne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034D3B6-1DF7-46DF-8FA8-8FA2C3666797}"/>
              </a:ext>
            </a:extLst>
          </p:cNvPr>
          <p:cNvSpPr txBox="1"/>
          <p:nvPr/>
        </p:nvSpPr>
        <p:spPr>
          <a:xfrm>
            <a:off x="3524250" y="24003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gratuit, Coran entier, vérifié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1134616-3AB6-45F6-AFFF-FC3960DD1CDB}"/>
              </a:ext>
            </a:extLst>
          </p:cNvPr>
          <p:cNvSpPr txBox="1"/>
          <p:nvPr/>
        </p:nvSpPr>
        <p:spPr>
          <a:xfrm>
            <a:off x="6572250" y="2400300"/>
            <a:ext cx="4667250" cy="41361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~ réservé Premium   ·   QC — pas de gestionnaire   ·   QM ✓ 30+ récitants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58CBA15-A5CD-4256-8E0F-8CC6275701E1}"/>
              </a:ext>
            </a:extLst>
          </p:cNvPr>
          <p:cNvSpPr/>
          <p:nvPr/>
        </p:nvSpPr>
        <p:spPr>
          <a:xfrm>
            <a:off x="762000" y="29527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E494B49-F01C-4EE0-B21A-671824A93E5D}"/>
              </a:ext>
            </a:extLst>
          </p:cNvPr>
          <p:cNvSpPr txBox="1"/>
          <p:nvPr/>
        </p:nvSpPr>
        <p:spPr>
          <a:xfrm>
            <a:off x="990600" y="30861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Finesses de lecture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617C67E-BCDF-4A70-961F-24D58BE47294}"/>
              </a:ext>
            </a:extLst>
          </p:cNvPr>
          <p:cNvSpPr txBox="1"/>
          <p:nvPr/>
        </p:nvSpPr>
        <p:spPr>
          <a:xfrm>
            <a:off x="3524250" y="30861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EQ, vitesse, A/B, décalage A/V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8F16443-008F-4CAF-8620-B4D494E4A0AB}"/>
              </a:ext>
            </a:extLst>
          </p:cNvPr>
          <p:cNvSpPr txBox="1"/>
          <p:nvPr/>
        </p:nvSpPr>
        <p:spPr>
          <a:xfrm>
            <a:off x="6572250" y="3086100"/>
            <a:ext cx="4667250" cy="41361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vitesse, boucle   ·   QC ✓ repeat   ·   QM ✓ répétitions + intervalle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BBDF21B-7CDD-40A0-8375-238D6FB301CE}"/>
              </a:ext>
            </a:extLst>
          </p:cNvPr>
          <p:cNvSpPr/>
          <p:nvPr/>
        </p:nvSpPr>
        <p:spPr>
          <a:xfrm>
            <a:off x="762000" y="36385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0B85F05-A563-465F-817B-3BDA58745E78}"/>
              </a:ext>
            </a:extLst>
          </p:cNvPr>
          <p:cNvSpPr txBox="1"/>
          <p:nvPr/>
        </p:nvSpPr>
        <p:spPr>
          <a:xfrm>
            <a:off x="990600" y="37719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Suivi du verset lu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DC43466-3905-4709-B212-BFDC7545EBB0}"/>
              </a:ext>
            </a:extLst>
          </p:cNvPr>
          <p:cNvSpPr txBox="1"/>
          <p:nvPr/>
        </p:nvSpPr>
        <p:spPr>
          <a:xfrm>
            <a:off x="3524250" y="37719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karaoké du verset et du mot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17FE85D-4951-4ABA-A682-032554812321}"/>
              </a:ext>
            </a:extLst>
          </p:cNvPr>
          <p:cNvSpPr txBox="1"/>
          <p:nvPr/>
        </p:nvSpPr>
        <p:spPr>
          <a:xfrm>
            <a:off x="6572250" y="37719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  ·   QC ✓ segments temporels   ·   QM ✓ verset + mot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399ACA3-7E3A-40B5-94DA-1AB86512CC89}"/>
              </a:ext>
            </a:extLst>
          </p:cNvPr>
          <p:cNvSpPr/>
          <p:nvPr/>
        </p:nvSpPr>
        <p:spPr>
          <a:xfrm>
            <a:off x="762000" y="43243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8DCC811-7387-40B4-9D74-3D8D9509CFC0}"/>
              </a:ext>
            </a:extLst>
          </p:cNvPr>
          <p:cNvSpPr txBox="1"/>
          <p:nvPr/>
        </p:nvSpPr>
        <p:spPr>
          <a:xfrm>
            <a:off x="990600" y="44577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Mémorisation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618847B-366C-4F22-867A-094A12EAC49F}"/>
              </a:ext>
            </a:extLst>
          </p:cNvPr>
          <p:cNvSpPr txBox="1"/>
          <p:nvPr/>
        </p:nvSpPr>
        <p:spPr>
          <a:xfrm>
            <a:off x="3524250" y="44577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boucle, 0,75×, al-Kahf en boucle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50491F2-04BD-416B-8907-B2CD8164284B}"/>
              </a:ext>
            </a:extLst>
          </p:cNvPr>
          <p:cNvSpPr txBox="1"/>
          <p:nvPr/>
        </p:nvSpPr>
        <p:spPr>
          <a:xfrm>
            <a:off x="6572250" y="4457700"/>
            <a:ext cx="4667250" cy="41361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+ lecons et QCM   ·   QC ✓ goals   ·   QM ✓ + enregistrement de soi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3B9978DB-8E4E-4461-9F83-B3EF9808C2E2}"/>
              </a:ext>
            </a:extLst>
          </p:cNvPr>
          <p:cNvSpPr/>
          <p:nvPr/>
        </p:nvSpPr>
        <p:spPr>
          <a:xfrm>
            <a:off x="762000" y="5010150"/>
            <a:ext cx="1066800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833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69992A7-EA67-4034-81D1-A89653DBB2A2}"/>
              </a:ext>
            </a:extLst>
          </p:cNvPr>
          <p:cNvSpPr txBox="1"/>
          <p:nvPr/>
        </p:nvSpPr>
        <p:spPr>
          <a:xfrm>
            <a:off x="990600" y="51435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Objectifs et historique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EA5D876-FC02-44B4-A961-AE60FAF34C1B}"/>
              </a:ext>
            </a:extLst>
          </p:cNvPr>
          <p:cNvSpPr txBox="1"/>
          <p:nvPr/>
        </p:nvSpPr>
        <p:spPr>
          <a:xfrm>
            <a:off x="3524250" y="51435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B28332"/>
                </a:solidFill>
                <a:latin typeface="Segoe UI"/>
                <a:ea typeface="Segoe UI"/>
              </a:rPr>
              <a:t>—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V.A. : seule la position reprend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48AF16E5-4EA9-4189-AFB7-2F197B3C0B91}"/>
              </a:ext>
            </a:extLst>
          </p:cNvPr>
          <p:cNvSpPr txBox="1"/>
          <p:nvPr/>
        </p:nvSpPr>
        <p:spPr>
          <a:xfrm>
            <a:off x="6572250" y="51435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My Progress   ·   QC ✓ goals + auto-scroll   ·   QM ~ suivi simple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6EED19E-2AC2-4D71-95CA-394FBCEB8D7B}"/>
              </a:ext>
            </a:extLst>
          </p:cNvPr>
          <p:cNvSpPr txBox="1"/>
          <p:nvPr/>
        </p:nvSpPr>
        <p:spPr>
          <a:xfrm>
            <a:off x="762000" y="577215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Lecture : l'audio est au niveau, parfois supérieur. Le trou est la couche d'habitude — objectifs, historique, auto-scroll.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CA13D1E-BFDA-449D-990C-45DA762323BD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DAA2529-E39B-4061-B4BE-B49C7AF31E6C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BB2A95A-DFA9-4B10-9E4C-DD9EA67023B2}"/>
              </a:ext>
            </a:extLst>
          </p:cNvPr>
          <p:cNvSpPr txBox="1"/>
          <p:nvPr/>
        </p:nvSpPr>
        <p:spPr>
          <a:xfrm>
            <a:off x="762000" y="4191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HORS CORAN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0960BA2-0A63-471E-A442-F61B82535D89}"/>
              </a:ext>
            </a:extLst>
          </p:cNvPr>
          <p:cNvSpPr txBox="1"/>
          <p:nvPr/>
        </p:nvSpPr>
        <p:spPr>
          <a:xfrm>
            <a:off x="762000" y="685800"/>
            <a:ext cx="76200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Prière, rappels et vie religieuse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C055BF0-40EF-419E-9521-130232CDB130}"/>
              </a:ext>
            </a:extLst>
          </p:cNvPr>
          <p:cNvSpPr txBox="1"/>
          <p:nvPr/>
        </p:nvSpPr>
        <p:spPr>
          <a:xfrm>
            <a:off x="990600" y="1333500"/>
            <a:ext cx="238125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CAPACITÉ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32D43D4-5CBB-44F9-B0A4-40B1678DE6A9}"/>
              </a:ext>
            </a:extLst>
          </p:cNvPr>
          <p:cNvSpPr txBox="1"/>
          <p:nvPr/>
        </p:nvSpPr>
        <p:spPr>
          <a:xfrm>
            <a:off x="3524250" y="133350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6235"/>
                </a:solidFill>
                <a:latin typeface="Segoe UI"/>
                <a:ea typeface="Segoe UI"/>
              </a:rPr>
              <a:t>MUSHAFLPLUS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428D4DE-A973-4EEB-93B1-85ED4AB6793A}"/>
              </a:ext>
            </a:extLst>
          </p:cNvPr>
          <p:cNvSpPr txBox="1"/>
          <p:nvPr/>
        </p:nvSpPr>
        <p:spPr>
          <a:xfrm>
            <a:off x="6572250" y="1333500"/>
            <a:ext cx="466725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MUSLIM PRO · QURAN.COM · QURAN MAJEED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839B8DB-4188-41D3-A56D-8A12923DA9A1}"/>
              </a:ext>
            </a:extLst>
          </p:cNvPr>
          <p:cNvSpPr/>
          <p:nvPr/>
        </p:nvSpPr>
        <p:spPr>
          <a:xfrm>
            <a:off x="762000" y="15811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0EF4A3-C1A3-4586-AB4E-9BF014F40B0F}"/>
              </a:ext>
            </a:extLst>
          </p:cNvPr>
          <p:cNvSpPr txBox="1"/>
          <p:nvPr/>
        </p:nvSpPr>
        <p:spPr>
          <a:xfrm>
            <a:off x="990600" y="17145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Horaires de prière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B10FE1A-0766-42C6-AAC3-4AB73B5ABF06}"/>
              </a:ext>
            </a:extLst>
          </p:cNvPr>
          <p:cNvSpPr txBox="1"/>
          <p:nvPr/>
        </p:nvSpPr>
        <p:spPr>
          <a:xfrm>
            <a:off x="3524250" y="17145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6 méthodes, ±60 min / prière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CFF3FC6-4F2C-4F96-BF17-552D4C220D7C}"/>
              </a:ext>
            </a:extLst>
          </p:cNvPr>
          <p:cNvSpPr txBox="1"/>
          <p:nvPr/>
        </p:nvSpPr>
        <p:spPr>
          <a:xfrm>
            <a:off x="6572250" y="1714500"/>
            <a:ext cx="4667250" cy="41361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+ horaires « vérifiés » par mosquée   ·   QC ✓   ·   QM ✓ multi-méthodes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0E84174-AE8B-42FC-B952-E7F0073BA350}"/>
              </a:ext>
            </a:extLst>
          </p:cNvPr>
          <p:cNvSpPr/>
          <p:nvPr/>
        </p:nvSpPr>
        <p:spPr>
          <a:xfrm>
            <a:off x="762000" y="22669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D831589-B31E-4BEF-8C4F-90E53A121595}"/>
              </a:ext>
            </a:extLst>
          </p:cNvPr>
          <p:cNvSpPr txBox="1"/>
          <p:nvPr/>
        </p:nvSpPr>
        <p:spPr>
          <a:xfrm>
            <a:off x="990600" y="24003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Adhan et rappels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75965EA-888D-45B5-A881-F7635F76F78C}"/>
              </a:ext>
            </a:extLst>
          </p:cNvPr>
          <p:cNvSpPr txBox="1"/>
          <p:nvPr/>
        </p:nvSpPr>
        <p:spPr>
          <a:xfrm>
            <a:off x="3524250" y="24003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B28332"/>
                </a:solidFill>
                <a:latin typeface="Segoe UI"/>
                <a:ea typeface="Segoe UI"/>
              </a:rPr>
              <a:t>~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1 voix, premier plan seulement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2BB2901-D2DC-42F5-9C83-34E6774880BC}"/>
              </a:ext>
            </a:extLst>
          </p:cNvPr>
          <p:cNvSpPr txBox="1"/>
          <p:nvPr/>
        </p:nvSpPr>
        <p:spPr>
          <a:xfrm>
            <a:off x="6572250" y="24003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voix licenciées, notif live   ·   QC —   ·   QM ✓ alarmes app fermée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A605947-E6DC-4E11-AA26-9114A72A4F00}"/>
              </a:ext>
            </a:extLst>
          </p:cNvPr>
          <p:cNvSpPr/>
          <p:nvPr/>
        </p:nvSpPr>
        <p:spPr>
          <a:xfrm>
            <a:off x="762000" y="29527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F99B7D9-F692-4FFD-A0BB-3FDEE91DB436}"/>
              </a:ext>
            </a:extLst>
          </p:cNvPr>
          <p:cNvSpPr txBox="1"/>
          <p:nvPr/>
        </p:nvSpPr>
        <p:spPr>
          <a:xfrm>
            <a:off x="990600" y="30861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Suivi des prières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610E49B-549C-430B-80A1-15536AA9A0DB}"/>
              </a:ext>
            </a:extLst>
          </p:cNvPr>
          <p:cNvSpPr txBox="1"/>
          <p:nvPr/>
        </p:nvSpPr>
        <p:spPr>
          <a:xfrm>
            <a:off x="3524250" y="30861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jour / semaine / mois, chiffré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A64502B-215E-4212-BAD2-246E25ADE887}"/>
              </a:ext>
            </a:extLst>
          </p:cNvPr>
          <p:cNvSpPr txBox="1"/>
          <p:nvPr/>
        </p:nvSpPr>
        <p:spPr>
          <a:xfrm>
            <a:off x="6572250" y="30861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~ journal   ·   QC —   ·   QM —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00A2F5A9-B74C-48C9-8FC3-B856B49D2281}"/>
              </a:ext>
            </a:extLst>
          </p:cNvPr>
          <p:cNvSpPr/>
          <p:nvPr/>
        </p:nvSpPr>
        <p:spPr>
          <a:xfrm>
            <a:off x="762000" y="3638550"/>
            <a:ext cx="10668000" cy="628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BDC6450-769E-4DFE-AC76-1761F83FFAB4}"/>
              </a:ext>
            </a:extLst>
          </p:cNvPr>
          <p:cNvSpPr txBox="1"/>
          <p:nvPr/>
        </p:nvSpPr>
        <p:spPr>
          <a:xfrm>
            <a:off x="990600" y="37719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Duas et athkar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7F19E94-385B-405C-A44B-025687239738}"/>
              </a:ext>
            </a:extLst>
          </p:cNvPr>
          <p:cNvSpPr txBox="1"/>
          <p:nvPr/>
        </p:nvSpPr>
        <p:spPr>
          <a:xfrm>
            <a:off x="3524250" y="37719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6235"/>
                </a:solidFill>
                <a:latin typeface="Segoe UI"/>
                <a:ea typeface="Segoe UI"/>
              </a:rPr>
              <a:t>✓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Coran + Hisn al-Muslim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2B17222-2B69-4FF0-A829-FFEC69C76BD1}"/>
              </a:ext>
            </a:extLst>
          </p:cNvPr>
          <p:cNvSpPr txBox="1"/>
          <p:nvPr/>
        </p:nvSpPr>
        <p:spPr>
          <a:xfrm>
            <a:off x="6572250" y="37719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+ tasbih   ·   QC ✓   ·   QM ✓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74E5832-AB50-4B05-8DB8-937F219B645F}"/>
              </a:ext>
            </a:extLst>
          </p:cNvPr>
          <p:cNvSpPr/>
          <p:nvPr/>
        </p:nvSpPr>
        <p:spPr>
          <a:xfrm>
            <a:off x="762000" y="4324350"/>
            <a:ext cx="1066800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833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6A3D74F-D9D6-484A-8025-CAF19D0A3BAC}"/>
              </a:ext>
            </a:extLst>
          </p:cNvPr>
          <p:cNvSpPr txBox="1"/>
          <p:nvPr/>
        </p:nvSpPr>
        <p:spPr>
          <a:xfrm>
            <a:off x="990600" y="44577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Ramadan et jeûne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86542CD-F251-4556-B026-45D4996D802C}"/>
              </a:ext>
            </a:extLst>
          </p:cNvPr>
          <p:cNvSpPr txBox="1"/>
          <p:nvPr/>
        </p:nvSpPr>
        <p:spPr>
          <a:xfrm>
            <a:off x="3524250" y="44577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B28332"/>
                </a:solidFill>
                <a:latin typeface="Segoe UI"/>
                <a:ea typeface="Segoe UI"/>
              </a:rPr>
              <a:t>—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V.A. : aucun ecran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11450BA-B960-4B70-9F17-2FD52730B4F0}"/>
              </a:ext>
            </a:extLst>
          </p:cNvPr>
          <p:cNvSpPr txBox="1"/>
          <p:nvPr/>
        </p:nvSpPr>
        <p:spPr>
          <a:xfrm>
            <a:off x="6572250" y="44577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Fasting Tracker + Khatam   ·   QC —   ·   QM ✓ Suhur/Iftar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737D7604-F8CA-4B42-9E2F-C5986307C7E6}"/>
              </a:ext>
            </a:extLst>
          </p:cNvPr>
          <p:cNvSpPr/>
          <p:nvPr/>
        </p:nvSpPr>
        <p:spPr>
          <a:xfrm>
            <a:off x="762000" y="5010150"/>
            <a:ext cx="1066800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833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27D249FE-B9AB-441D-8854-F1131A7FC3DD}"/>
              </a:ext>
            </a:extLst>
          </p:cNvPr>
          <p:cNvSpPr txBox="1"/>
          <p:nvPr/>
        </p:nvSpPr>
        <p:spPr>
          <a:xfrm>
            <a:off x="990600" y="5143500"/>
            <a:ext cx="2381250" cy="3810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Qibla · calendrier · widgets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D0A7CF3-95E5-43A7-BD84-9CB2042DA0C4}"/>
              </a:ext>
            </a:extLst>
          </p:cNvPr>
          <p:cNvSpPr txBox="1"/>
          <p:nvPr/>
        </p:nvSpPr>
        <p:spPr>
          <a:xfrm>
            <a:off x="3524250" y="5143500"/>
            <a:ext cx="285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B28332"/>
                </a:solidFill>
                <a:latin typeface="Segoe UI"/>
                <a:ea typeface="Segoe UI"/>
              </a:rPr>
              <a:t>— </a:t>
            </a:r>
            <a:r>
              <a:rPr sz="1200">
                <a:solidFill>
                  <a:srgbClr val="14231A"/>
                </a:solidFill>
                <a:latin typeface="Segoe UI"/>
                <a:ea typeface="Segoe UI"/>
              </a:rPr>
              <a:t>les trois, V.A.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B993BFD-F567-4DD4-A011-B7B74B1C611D}"/>
              </a:ext>
            </a:extLst>
          </p:cNvPr>
          <p:cNvSpPr txBox="1"/>
          <p:nvPr/>
        </p:nvSpPr>
        <p:spPr>
          <a:xfrm>
            <a:off x="6572250" y="5143500"/>
            <a:ext cx="46672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MP ✓ les trois   ·   QC ~ calendrier   ·   QM ✓ les trois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4AE21EB-EC0D-4E8D-BA93-1140F7A36704}"/>
              </a:ext>
            </a:extLst>
          </p:cNvPr>
          <p:cNvSpPr txBox="1"/>
          <p:nvPr/>
        </p:nvSpPr>
        <p:spPr>
          <a:xfrm>
            <a:off x="762000" y="577215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Lecture : trois ecrans nous manquent — Ramadan, calendrier hegirien, Qibla. Ce sont des ecrans, pas des produits : les donnees sont deja calculees.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D8E3F87-0B1C-4FB0-8D6E-80F30D1C214D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10823BC-0F41-40B6-8629-E9FF37A91399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1EE045E-1E53-46E2-B1CF-F461744C70D4}"/>
              </a:ext>
            </a:extLst>
          </p:cNvPr>
          <p:cNvSpPr txBox="1"/>
          <p:nvPr/>
        </p:nvSpPr>
        <p:spPr>
          <a:xfrm>
            <a:off x="762000" y="4191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DESIGN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1D3A456-C2DE-4888-A646-6B3F6DB76914}"/>
              </a:ext>
            </a:extLst>
          </p:cNvPr>
          <p:cNvSpPr txBox="1"/>
          <p:nvPr/>
        </p:nvSpPr>
        <p:spPr>
          <a:xfrm>
            <a:off x="762000" y="685800"/>
            <a:ext cx="38100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Langage visuel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657A6C9-D4F6-44A1-AC3C-CBCB5945EF15}"/>
              </a:ext>
            </a:extLst>
          </p:cNvPr>
          <p:cNvSpPr txBox="1"/>
          <p:nvPr/>
        </p:nvSpPr>
        <p:spPr>
          <a:xfrm>
            <a:off x="5334000" y="781050"/>
            <a:ext cx="6096000" cy="4381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8A8172"/>
                </a:solidFill>
                <a:latin typeface="Segoe UI"/>
                <a:ea typeface="Segoe UI"/>
              </a:rPr>
              <a:t>Les hexes sont mesures dans les feuilles de style publiees des apps web,</a:t>
            </a:r>
            <a:r>
              <a:rPr sz="1100">
                <a:solidFill>
                  <a:srgbClr val="8A8172"/>
                </a:solidFill>
                <a:latin typeface="Segoe UI"/>
                <a:ea typeface="Segoe UI"/>
              </a:rPr>
              <a:t>pas devines d'apres des captures d'ecran.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0C4015D-C0A8-4021-94A7-F14AD9A3874A}"/>
              </a:ext>
            </a:extLst>
          </p:cNvPr>
          <p:cNvSpPr/>
          <p:nvPr/>
        </p:nvSpPr>
        <p:spPr>
          <a:xfrm>
            <a:off x="762000" y="1390650"/>
            <a:ext cx="5238750" cy="180975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833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238AD7A-EFB8-4F84-BD29-5C51828C3EF1}"/>
              </a:ext>
            </a:extLst>
          </p:cNvPr>
          <p:cNvSpPr txBox="1"/>
          <p:nvPr/>
        </p:nvSpPr>
        <p:spPr>
          <a:xfrm>
            <a:off x="990600" y="152400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6235"/>
                </a:solidFill>
                <a:latin typeface="Georgia"/>
                <a:ea typeface="Georgia"/>
              </a:rPr>
              <a:t>MushafPlus — nous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804F102-AB5A-49AC-9E31-65186F1DD3D0}"/>
              </a:ext>
            </a:extLst>
          </p:cNvPr>
          <p:cNvSpPr/>
          <p:nvPr/>
        </p:nvSpPr>
        <p:spPr>
          <a:xfrm>
            <a:off x="990600" y="1828800"/>
            <a:ext cx="285750" cy="285750"/>
          </a:xfrm>
          <a:prstGeom prst="rect">
            <a:avLst/>
          </a:prstGeom>
          <a:solidFill>
            <a:srgbClr val="0B62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8E5BC32-D684-40DF-94C8-514D86CD8375}"/>
              </a:ext>
            </a:extLst>
          </p:cNvPr>
          <p:cNvSpPr/>
          <p:nvPr/>
        </p:nvSpPr>
        <p:spPr>
          <a:xfrm>
            <a:off x="1333500" y="1828800"/>
            <a:ext cx="285750" cy="285750"/>
          </a:xfrm>
          <a:prstGeom prst="rect">
            <a:avLst/>
          </a:prstGeom>
          <a:solidFill>
            <a:srgbClr val="7C4A1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6919F80-A776-43D2-9457-BDC9BF1F5E60}"/>
              </a:ext>
            </a:extLst>
          </p:cNvPr>
          <p:cNvSpPr/>
          <p:nvPr/>
        </p:nvSpPr>
        <p:spPr>
          <a:xfrm>
            <a:off x="1676400" y="1828800"/>
            <a:ext cx="285750" cy="285750"/>
          </a:xfrm>
          <a:prstGeom prst="rect">
            <a:avLst/>
          </a:prstGeom>
          <a:solidFill>
            <a:srgbClr val="2F9F6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8B6977-AD93-4EAC-864A-06C28AA1F76C}"/>
              </a:ext>
            </a:extLst>
          </p:cNvPr>
          <p:cNvSpPr txBox="1"/>
          <p:nvPr/>
        </p:nvSpPr>
        <p:spPr>
          <a:xfrm>
            <a:off x="2095500" y="1885950"/>
            <a:ext cx="2667000" cy="2095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Segoe UI"/>
                <a:ea typeface="Segoe UI"/>
              </a:rPr>
              <a:t>#0b6235 · #7c4a17 · #2f9f6b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2814398-877F-4153-B3F9-77A2CE6916CB}"/>
              </a:ext>
            </a:extLst>
          </p:cNvPr>
          <p:cNvSpPr txBox="1"/>
          <p:nvPr/>
        </p:nvSpPr>
        <p:spPr>
          <a:xfrm>
            <a:off x="990600" y="2190750"/>
            <a:ext cx="4781550" cy="890727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UI : system-ui, aucune webfont · Coran : QPC Uthmani, IndoPak Nastaleeq, Scheherazade, Amiri, Noto Naskh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Thèmes : clair, sepia, sombre · ~65 keyframes CSS, prefers-reduced-motion respecté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C7FA945-B029-45ED-B758-0D5CADCEB2F9}"/>
              </a:ext>
            </a:extLst>
          </p:cNvPr>
          <p:cNvSpPr/>
          <p:nvPr/>
        </p:nvSpPr>
        <p:spPr>
          <a:xfrm>
            <a:off x="6191250" y="1390650"/>
            <a:ext cx="523875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278E2EE-BC87-4689-93D9-BCD554751F6E}"/>
              </a:ext>
            </a:extLst>
          </p:cNvPr>
          <p:cNvSpPr txBox="1"/>
          <p:nvPr/>
        </p:nvSpPr>
        <p:spPr>
          <a:xfrm>
            <a:off x="6419850" y="152400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6235"/>
                </a:solidFill>
                <a:latin typeface="Georgia"/>
                <a:ea typeface="Georgia"/>
              </a:rPr>
              <a:t>Muslim Pro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5A074EF-C357-4D5C-8C40-CE8A857E82BA}"/>
              </a:ext>
            </a:extLst>
          </p:cNvPr>
          <p:cNvSpPr/>
          <p:nvPr/>
        </p:nvSpPr>
        <p:spPr>
          <a:xfrm>
            <a:off x="6419850" y="1828800"/>
            <a:ext cx="285750" cy="285750"/>
          </a:xfrm>
          <a:prstGeom prst="rect">
            <a:avLst/>
          </a:prstGeom>
          <a:solidFill>
            <a:srgbClr val="00A36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22FBAF5-9FD3-4DD8-BA22-763C75F91610}"/>
              </a:ext>
            </a:extLst>
          </p:cNvPr>
          <p:cNvSpPr/>
          <p:nvPr/>
        </p:nvSpPr>
        <p:spPr>
          <a:xfrm>
            <a:off x="6762750" y="1828800"/>
            <a:ext cx="285750" cy="285750"/>
          </a:xfrm>
          <a:prstGeom prst="rect">
            <a:avLst/>
          </a:prstGeom>
          <a:solidFill>
            <a:srgbClr val="0F161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3E58038-A214-4359-827F-2CF67CDF7369}"/>
              </a:ext>
            </a:extLst>
          </p:cNvPr>
          <p:cNvSpPr/>
          <p:nvPr/>
        </p:nvSpPr>
        <p:spPr>
          <a:xfrm>
            <a:off x="7105650" y="1828800"/>
            <a:ext cx="285750" cy="285750"/>
          </a:xfrm>
          <a:prstGeom prst="rect">
            <a:avLst/>
          </a:prstGeom>
          <a:solidFill>
            <a:srgbClr val="FF98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B890488-4431-46FE-8215-AB1FAB5A640E}"/>
              </a:ext>
            </a:extLst>
          </p:cNvPr>
          <p:cNvSpPr txBox="1"/>
          <p:nvPr/>
        </p:nvSpPr>
        <p:spPr>
          <a:xfrm>
            <a:off x="7524750" y="1885950"/>
            <a:ext cx="3048000" cy="2095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Segoe UI"/>
                <a:ea typeface="Segoe UI"/>
              </a:rPr>
              <a:t>#00a360 · #0f1613 · #ff9800 · #e91e63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1AEFF8C-64A2-45A7-8363-01183D46B541}"/>
              </a:ext>
            </a:extLst>
          </p:cNvPr>
          <p:cNvSpPr txBox="1"/>
          <p:nvPr/>
        </p:nvSpPr>
        <p:spPr>
          <a:xfrm>
            <a:off x="6419850" y="2190750"/>
            <a:ext cx="4781550" cy="890727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UI : Rethink Sans + display Outfit · Coran : police non publiee, texte issu de Tanzil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Thèmes : sombre par classe Tailwind · backdrop-blur, pilules · les couleurs sont Premium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C9884BEF-F3C6-45A4-8D3C-016640531272}"/>
              </a:ext>
            </a:extLst>
          </p:cNvPr>
          <p:cNvSpPr/>
          <p:nvPr/>
        </p:nvSpPr>
        <p:spPr>
          <a:xfrm>
            <a:off x="762000" y="3352800"/>
            <a:ext cx="523875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CBF576B-058E-43C1-BA51-0D0291C1462A}"/>
              </a:ext>
            </a:extLst>
          </p:cNvPr>
          <p:cNvSpPr txBox="1"/>
          <p:nvPr/>
        </p:nvSpPr>
        <p:spPr>
          <a:xfrm>
            <a:off x="990600" y="34861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6235"/>
                </a:solidFill>
                <a:latin typeface="Georgia"/>
                <a:ea typeface="Georgia"/>
              </a:rPr>
              <a:t>Quran.com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132165E-4F96-44D8-A263-8509BBDE16CC}"/>
              </a:ext>
            </a:extLst>
          </p:cNvPr>
          <p:cNvSpPr/>
          <p:nvPr/>
        </p:nvSpPr>
        <p:spPr>
          <a:xfrm>
            <a:off x="990600" y="3790950"/>
            <a:ext cx="285750" cy="285750"/>
          </a:xfrm>
          <a:prstGeom prst="rect">
            <a:avLst/>
          </a:prstGeom>
          <a:solidFill>
            <a:srgbClr val="2CA4A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B1FCFE74-7A0F-45E3-8424-F1CAAB1C439A}"/>
              </a:ext>
            </a:extLst>
          </p:cNvPr>
          <p:cNvSpPr/>
          <p:nvPr/>
        </p:nvSpPr>
        <p:spPr>
          <a:xfrm>
            <a:off x="1333500" y="3790950"/>
            <a:ext cx="285750" cy="285750"/>
          </a:xfrm>
          <a:prstGeom prst="rect">
            <a:avLst/>
          </a:prstGeom>
          <a:solidFill>
            <a:srgbClr val="1F212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5DA393C9-3C4D-422E-BEE0-F063B72E1C17}"/>
              </a:ext>
            </a:extLst>
          </p:cNvPr>
          <p:cNvSpPr/>
          <p:nvPr/>
        </p:nvSpPr>
        <p:spPr>
          <a:xfrm>
            <a:off x="1676400" y="3790950"/>
            <a:ext cx="285750" cy="285750"/>
          </a:xfrm>
          <a:prstGeom prst="rect">
            <a:avLst/>
          </a:prstGeom>
          <a:solidFill>
            <a:srgbClr val="E2AF5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0B01B0C-8C8F-4099-814C-49ABB46CA87E}"/>
              </a:ext>
            </a:extLst>
          </p:cNvPr>
          <p:cNvSpPr txBox="1"/>
          <p:nvPr/>
        </p:nvSpPr>
        <p:spPr>
          <a:xfrm>
            <a:off x="2095500" y="3848100"/>
            <a:ext cx="3048000" cy="2095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Segoe UI"/>
                <a:ea typeface="Segoe UI"/>
              </a:rPr>
              <a:t>#2ca4ab · #1f2125 · #e2af56 · #00163d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2D54287-5043-435A-B614-32BCF022C651}"/>
              </a:ext>
            </a:extLst>
          </p:cNvPr>
          <p:cNvSpPr txBox="1"/>
          <p:nvPr/>
        </p:nvSpPr>
        <p:spPr>
          <a:xfrm>
            <a:off x="990600" y="4152900"/>
            <a:ext cx="4781550" cy="890727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UI : Figtree, Newsreader pour l'editorial · Coran : UthmanicHafs, IndoPak, Kitab, DroidArabicNaskh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Thèmes : light, dark, sepia, auto · tokens semantiques de surlignage et d'action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4D2C25C2-94C1-47BA-9851-E3FBD3DD9E96}"/>
              </a:ext>
            </a:extLst>
          </p:cNvPr>
          <p:cNvSpPr/>
          <p:nvPr/>
        </p:nvSpPr>
        <p:spPr>
          <a:xfrm>
            <a:off x="6191250" y="3352800"/>
            <a:ext cx="523875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BD7DAA4-8D63-460E-9908-85AA96D8A8A6}"/>
              </a:ext>
            </a:extLst>
          </p:cNvPr>
          <p:cNvSpPr txBox="1"/>
          <p:nvPr/>
        </p:nvSpPr>
        <p:spPr>
          <a:xfrm>
            <a:off x="6419850" y="34861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6235"/>
                </a:solidFill>
                <a:latin typeface="Georgia"/>
                <a:ea typeface="Georgia"/>
              </a:rPr>
              <a:t>Quran Majeed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FBBD7C89-6344-4D63-8DFF-64FC9149D2BC}"/>
              </a:ext>
            </a:extLst>
          </p:cNvPr>
          <p:cNvSpPr txBox="1"/>
          <p:nvPr/>
        </p:nvSpPr>
        <p:spPr>
          <a:xfrm>
            <a:off x="6419850" y="3810000"/>
            <a:ext cx="30480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50" i="1">
                <a:solidFill>
                  <a:srgbClr val="8A8172"/>
                </a:solidFill>
                <a:latin typeface="Segoe UI"/>
                <a:ea typeface="Segoe UI"/>
              </a:rPr>
              <a:t>teintes non publiees par l'editeur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6A3BDEF-B8EE-4DEB-8EC1-01A86AFC3FC8}"/>
              </a:ext>
            </a:extLst>
          </p:cNvPr>
          <p:cNvSpPr txBox="1"/>
          <p:nvPr/>
        </p:nvSpPr>
        <p:spPr>
          <a:xfrm>
            <a:off x="6419850" y="4114800"/>
            <a:ext cx="478155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Identite : vert profond + or, degrapes · police arabe Noto Naskh Arabic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Themes : Green, Blue, Classic-Green, Night, Light &amp; Brown · revue tierce : « polished but busy »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091B85A-9F23-4C46-9447-5B924E286EA4}"/>
              </a:ext>
            </a:extLst>
          </p:cNvPr>
          <p:cNvSpPr txBox="1"/>
          <p:nvPr/>
        </p:nvSpPr>
        <p:spPr>
          <a:xfrm>
            <a:off x="762000" y="5391150"/>
            <a:ext cx="106680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Lecture : nous sommes sur la même grammaire que Quran.com — trois thèmes dont un sepia, tokens sémantiques, crans de taille — sous une contrainte qu'ils n'ont pas : aucune webfont d'interface.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i="1">
                <a:solidFill>
                  <a:srgbClr val="5C6B60"/>
                </a:solidFill>
                <a:latin typeface="Segoe UI"/>
                <a:ea typeface="Segoe UI"/>
              </a:rPr>
              <a:t>Plus sobres que Muslim Pro, nettement plus épurés que Quran Majeed, dont la surcharge est le reproche récurrent.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FBC197D-D1E0-4B91-94DB-E802B81B6B1F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AA5D8BE-2958-4E27-9C5F-6947AB1E7646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D71DEF9-E9C5-467A-B18E-63FC36B062C5}"/>
              </a:ext>
            </a:extLst>
          </p:cNvPr>
          <p:cNvSpPr txBox="1"/>
          <p:nvPr/>
        </p:nvSpPr>
        <p:spPr>
          <a:xfrm>
            <a:off x="762000" y="4191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AVANTAGES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EBE717-EFD7-4D90-9FD2-C7298C1B00FE}"/>
              </a:ext>
            </a:extLst>
          </p:cNvPr>
          <p:cNvSpPr txBox="1"/>
          <p:nvPr/>
        </p:nvSpPr>
        <p:spPr>
          <a:xfrm>
            <a:off x="762000" y="685800"/>
            <a:ext cx="85725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Huit choses que nul de ces trois n'a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A9B5978-4C92-4E92-AB20-2CEA5379855E}"/>
              </a:ext>
            </a:extLst>
          </p:cNvPr>
          <p:cNvSpPr txBox="1"/>
          <p:nvPr/>
        </p:nvSpPr>
        <p:spPr>
          <a:xfrm>
            <a:off x="762000" y="1485900"/>
            <a:ext cx="3810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39FC335-3107-43C7-9EB0-08C2C873A0F5}"/>
              </a:ext>
            </a:extLst>
          </p:cNvPr>
          <p:cNvSpPr txBox="1"/>
          <p:nvPr/>
        </p:nvSpPr>
        <p:spPr>
          <a:xfrm>
            <a:off x="1181100" y="1504950"/>
            <a:ext cx="47244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231A"/>
                </a:solidFill>
                <a:latin typeface="Segoe UI"/>
                <a:ea typeface="Segoe UI"/>
              </a:rPr>
              <a:t>Le Warsh complet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23ADB2-DA87-4F45-A361-323D804D9A08}"/>
              </a:ext>
            </a:extLst>
          </p:cNvPr>
          <p:cNvSpPr txBox="1"/>
          <p:nvPr/>
        </p:nvSpPr>
        <p:spPr>
          <a:xfrm>
            <a:off x="1181100" y="1771650"/>
            <a:ext cx="4724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texte KFGQPC Medine, dabt de son edition, traductions dediees, huit recitants. Quran.com l'ignore, Muslim Pro ne le documente pas.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8C9600A-12A5-4ADF-8103-126398141461}"/>
              </a:ext>
            </a:extLst>
          </p:cNvPr>
          <p:cNvSpPr txBox="1"/>
          <p:nvPr/>
        </p:nvSpPr>
        <p:spPr>
          <a:xfrm>
            <a:off x="762000" y="2609850"/>
            <a:ext cx="3810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D68FC2C-D0B0-4E13-B6FD-CE2F243E382C}"/>
              </a:ext>
            </a:extLst>
          </p:cNvPr>
          <p:cNvSpPr txBox="1"/>
          <p:nvPr/>
        </p:nvSpPr>
        <p:spPr>
          <a:xfrm>
            <a:off x="1181100" y="2628900"/>
            <a:ext cx="47244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231A"/>
                </a:solidFill>
                <a:latin typeface="Segoe UI"/>
                <a:ea typeface="Segoe UI"/>
              </a:rPr>
              <a:t>L'intégrité du texte comme règle de code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AFB7D1-A705-4240-BBBE-C4841514AA8D}"/>
              </a:ext>
            </a:extLst>
          </p:cNvPr>
          <p:cNvSpPr txBox="1"/>
          <p:nvPr/>
        </p:nvSpPr>
        <p:spPr>
          <a:xfrm>
            <a:off x="1181100" y="2895600"/>
            <a:ext cx="4724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la couleur ne peut jamais venir d'une devinette de lettres ; un echec est expose, jamais masque. Aucun concurrent ne publie cette discipline.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F7B99F8-AED2-49A6-A3C0-29CA172E09BF}"/>
              </a:ext>
            </a:extLst>
          </p:cNvPr>
          <p:cNvSpPr txBox="1"/>
          <p:nvPr/>
        </p:nvSpPr>
        <p:spPr>
          <a:xfrm>
            <a:off x="762000" y="3733800"/>
            <a:ext cx="3810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3E1C3C3-413D-4132-A9BF-920C38F18759}"/>
              </a:ext>
            </a:extLst>
          </p:cNvPr>
          <p:cNvSpPr txBox="1"/>
          <p:nvPr/>
        </p:nvSpPr>
        <p:spPr>
          <a:xfrm>
            <a:off x="1181100" y="3752850"/>
            <a:ext cx="47244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231A"/>
                </a:solidFill>
                <a:latin typeface="Segoe UI"/>
                <a:ea typeface="Segoe UI"/>
              </a:rPr>
              <a:t>Coran hors ligne intégral, gratuit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2202EBB-4646-4CA6-B77F-D53AC4228D8E}"/>
              </a:ext>
            </a:extLst>
          </p:cNvPr>
          <p:cNvSpPr txBox="1"/>
          <p:nvPr/>
        </p:nvSpPr>
        <p:spPr>
          <a:xfrm>
            <a:off x="1181100" y="4019550"/>
            <a:ext cx="4724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telechargement verifie octet par octet, par sourate ou Coran entier. Chez Muslim Pro c'est payant ; chez Quran.com il n'y a pas de gestionnaire.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3C36E67-FC75-4847-A69B-12093EDE876A}"/>
              </a:ext>
            </a:extLst>
          </p:cNvPr>
          <p:cNvSpPr txBox="1"/>
          <p:nvPr/>
        </p:nvSpPr>
        <p:spPr>
          <a:xfrm>
            <a:off x="762000" y="4857750"/>
            <a:ext cx="3810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0B7A294-1E8F-420F-93FB-74D7D6EC8353}"/>
              </a:ext>
            </a:extLst>
          </p:cNvPr>
          <p:cNvSpPr txBox="1"/>
          <p:nvPr/>
        </p:nvSpPr>
        <p:spPr>
          <a:xfrm>
            <a:off x="1181100" y="4876800"/>
            <a:ext cx="47244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231A"/>
                </a:solidFill>
                <a:latin typeface="Segoe UI"/>
                <a:ea typeface="Segoe UI"/>
              </a:rPr>
              <a:t>Recherche phonétique et vocale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A0EADA1-752F-498B-B331-0B4D4E32B79A}"/>
              </a:ext>
            </a:extLst>
          </p:cNvPr>
          <p:cNvSpPr txBox="1"/>
          <p:nvPr/>
        </p:nvSpPr>
        <p:spPr>
          <a:xfrm>
            <a:off x="1181100" y="5143500"/>
            <a:ext cx="4724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la translitteration est une surface de recherche, et la dictée vocale marche en arabe, francais et anglais.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3064801-159C-4F44-B936-8517BE43FCC8}"/>
              </a:ext>
            </a:extLst>
          </p:cNvPr>
          <p:cNvSpPr txBox="1"/>
          <p:nvPr/>
        </p:nvSpPr>
        <p:spPr>
          <a:xfrm>
            <a:off x="6286500" y="1485900"/>
            <a:ext cx="3810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34FD0F0-40BC-4080-A91E-06CB44C3C3CA}"/>
              </a:ext>
            </a:extLst>
          </p:cNvPr>
          <p:cNvSpPr txBox="1"/>
          <p:nvPr/>
        </p:nvSpPr>
        <p:spPr>
          <a:xfrm>
            <a:off x="6705600" y="1504950"/>
            <a:ext cx="47244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231A"/>
                </a:solidFill>
                <a:latin typeface="Segoe UI"/>
                <a:ea typeface="Segoe UI"/>
              </a:rPr>
              <a:t>Cartes de partage thémées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EC2503C-2B0E-4968-A427-26E9E3371627}"/>
              </a:ext>
            </a:extLst>
          </p:cNvPr>
          <p:cNvSpPr txBox="1"/>
          <p:nvPr/>
        </p:nvSpPr>
        <p:spPr>
          <a:xfrm>
            <a:off x="6705600" y="1771650"/>
            <a:ext cx="4724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trois formats — carre, portrait, story — avec theme et traduction optionnels, generees ici meme.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94695C8-A702-405B-B43D-FF7D8CD0C79E}"/>
              </a:ext>
            </a:extLst>
          </p:cNvPr>
          <p:cNvSpPr txBox="1"/>
          <p:nvPr/>
        </p:nvSpPr>
        <p:spPr>
          <a:xfrm>
            <a:off x="6286500" y="2609850"/>
            <a:ext cx="3810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7318785-42D0-447D-9789-1B9479557D8D}"/>
              </a:ext>
            </a:extLst>
          </p:cNvPr>
          <p:cNvSpPr txBox="1"/>
          <p:nvPr/>
        </p:nvSpPr>
        <p:spPr>
          <a:xfrm>
            <a:off x="6705600" y="2628900"/>
            <a:ext cx="47244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231A"/>
                </a:solidFill>
                <a:latin typeface="Segoe UI"/>
                <a:ea typeface="Segoe UI"/>
              </a:rPr>
              <a:t>Suivi personnel des prières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24BC795-6881-4BD8-8BC2-9997B5850F65}"/>
              </a:ext>
            </a:extLst>
          </p:cNvPr>
          <p:cNvSpPr txBox="1"/>
          <p:nvPr/>
        </p:nvSpPr>
        <p:spPr>
          <a:xfrm>
            <a:off x="6705600" y="2895600"/>
            <a:ext cx="4724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jours, semaines, mois, avec question d'apres-priere — sans compte et sans serveur.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5EB8431-8E72-4EFE-93B8-E4C009D7A168}"/>
              </a:ext>
            </a:extLst>
          </p:cNvPr>
          <p:cNvSpPr txBox="1"/>
          <p:nvPr/>
        </p:nvSpPr>
        <p:spPr>
          <a:xfrm>
            <a:off x="6286500" y="3733800"/>
            <a:ext cx="3810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719B2D2-D232-43B3-A5C7-602D37B31347}"/>
              </a:ext>
            </a:extLst>
          </p:cNvPr>
          <p:cNvSpPr txBox="1"/>
          <p:nvPr/>
        </p:nvSpPr>
        <p:spPr>
          <a:xfrm>
            <a:off x="6705600" y="3752850"/>
            <a:ext cx="47244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231A"/>
                </a:solidFill>
                <a:latin typeface="Segoe UI"/>
                <a:ea typeface="Segoe UI"/>
              </a:rPr>
              <a:t>Notes chiffrées, exportables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BAF7059-4314-4089-BB15-1A41E2AC548E}"/>
              </a:ext>
            </a:extLst>
          </p:cNvPr>
          <p:cNvSpPr txBox="1"/>
          <p:nvPr/>
        </p:nvSpPr>
        <p:spPr>
          <a:xfrm>
            <a:off x="6705600" y="4019550"/>
            <a:ext cx="4724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export et import JSON complet, effacement local. Ni compte, ni fuite, ni verrou editeur.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53BB2FD-181C-43E9-9AFE-5692357BBFA4}"/>
              </a:ext>
            </a:extLst>
          </p:cNvPr>
          <p:cNvSpPr txBox="1"/>
          <p:nvPr/>
        </p:nvSpPr>
        <p:spPr>
          <a:xfrm>
            <a:off x="6286500" y="4857750"/>
            <a:ext cx="381000" cy="3238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08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6ECC47A-9E20-49D0-8CA5-2463C469462A}"/>
              </a:ext>
            </a:extLst>
          </p:cNvPr>
          <p:cNvSpPr txBox="1"/>
          <p:nvPr/>
        </p:nvSpPr>
        <p:spPr>
          <a:xfrm>
            <a:off x="6705600" y="4876800"/>
            <a:ext cx="4724400" cy="2476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231A"/>
                </a:solidFill>
                <a:latin typeface="Segoe UI"/>
                <a:ea typeface="Segoe UI"/>
              </a:rPr>
              <a:t>Budgets de performance tenus par la CI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3A3B640-1149-4307-BDEB-F8E1F720CFD8}"/>
              </a:ext>
            </a:extLst>
          </p:cNvPr>
          <p:cNvSpPr txBox="1"/>
          <p:nvPr/>
        </p:nvSpPr>
        <p:spPr>
          <a:xfrm>
            <a:off x="6705600" y="5143500"/>
            <a:ext cx="4724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5C6B60"/>
                </a:solidFill>
                <a:latin typeface="Segoe UI"/>
                <a:ea typeface="Segoe UI"/>
              </a:rPr>
              <a:t>taille du bundle et budget par ecran sont mesures et bloquent la fusion. Aucune des trois fiches concurrentes ne publie l'equivalent.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F0662E93-45E3-4B30-ADDD-FE8C812493A7}"/>
              </a:ext>
            </a:extLst>
          </p:cNvPr>
          <p:cNvSpPr txBox="1"/>
          <p:nvPr/>
        </p:nvSpPr>
        <p:spPr>
          <a:xfrm>
            <a:off x="762000" y="581025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Aucun de ces huit points ne demande de copier un concurrent : ce sont des choices deja faits, qu'il faut rendre visibles.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121E31B-08A2-4D37-B345-71A2D0B6CE03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14E5CCE-0EA9-4B0D-9FB3-136AB93C64AC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7AD434C-C286-494E-9246-64962CCEFED3}"/>
              </a:ext>
            </a:extLst>
          </p:cNvPr>
          <p:cNvSpPr txBox="1"/>
          <p:nvPr/>
        </p:nvSpPr>
        <p:spPr>
          <a:xfrm>
            <a:off x="762000" y="419100"/>
            <a:ext cx="47625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PRIORITÉS · 1/2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302A29-155F-4259-A3DA-C18F4D4DCFB5}"/>
              </a:ext>
            </a:extLst>
          </p:cNvPr>
          <p:cNvSpPr txBox="1"/>
          <p:nvPr/>
        </p:nvSpPr>
        <p:spPr>
          <a:xfrm>
            <a:off x="762000" y="685800"/>
            <a:ext cx="66675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Impact fort, coût faible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231AB7E-A755-4C68-A332-75FAEAE6C176}"/>
              </a:ext>
            </a:extLst>
          </p:cNvPr>
          <p:cNvSpPr/>
          <p:nvPr/>
        </p:nvSpPr>
        <p:spPr>
          <a:xfrm>
            <a:off x="762000" y="1390650"/>
            <a:ext cx="3429000" cy="200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65ECC2-EA89-4E98-9A11-832A4EB0E9DF}"/>
              </a:ext>
            </a:extLst>
          </p:cNvPr>
          <p:cNvSpPr txBox="1"/>
          <p:nvPr/>
        </p:nvSpPr>
        <p:spPr>
          <a:xfrm>
            <a:off x="952500" y="154305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28332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1DF331-E37A-424D-91DE-6B906E0F0BD0}"/>
              </a:ext>
            </a:extLst>
          </p:cNvPr>
          <p:cNvSpPr txBox="1"/>
          <p:nvPr/>
        </p:nvSpPr>
        <p:spPr>
          <a:xfrm>
            <a:off x="1333500" y="154305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Objectifs de lecture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553F2B8-9621-485B-B0A3-4D1AEDE8EB8B}"/>
              </a:ext>
            </a:extLst>
          </p:cNvPr>
          <p:cNvSpPr txBox="1"/>
          <p:nvPr/>
        </p:nvSpPr>
        <p:spPr>
          <a:xfrm>
            <a:off x="952500" y="2057400"/>
            <a:ext cx="304800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>
                <a:solidFill>
                  <a:srgbClr val="5C6B60"/>
                </a:solidFill>
                <a:latin typeface="Segoe UI"/>
                <a:ea typeface="Segoe UI"/>
              </a:rPr>
              <a:t>Le seul vrai trou de retention. La position de reprise est deja persistee : il manque le comptage — pages, jours, sections terminees, serie.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0B6235"/>
                </a:solidFill>
                <a:latin typeface="Segoe UI"/>
                <a:ea typeface="Segoe UI"/>
              </a:rPr>
              <a:t>Preuve : QC goals + historique, MP My Progress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9019178-B98E-4E24-B711-34A77B3F94B6}"/>
              </a:ext>
            </a:extLst>
          </p:cNvPr>
          <p:cNvSpPr/>
          <p:nvPr/>
        </p:nvSpPr>
        <p:spPr>
          <a:xfrm>
            <a:off x="4381500" y="1390650"/>
            <a:ext cx="3429000" cy="200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B538239-2AF7-4697-9828-66820AF25F39}"/>
              </a:ext>
            </a:extLst>
          </p:cNvPr>
          <p:cNvSpPr txBox="1"/>
          <p:nvPr/>
        </p:nvSpPr>
        <p:spPr>
          <a:xfrm>
            <a:off x="4572000" y="154305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28332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06C41F8-8C7C-41F8-9852-EAD9C0302475}"/>
              </a:ext>
            </a:extLst>
          </p:cNvPr>
          <p:cNvSpPr txBox="1"/>
          <p:nvPr/>
        </p:nvSpPr>
        <p:spPr>
          <a:xfrm>
            <a:off x="4953000" y="154305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Auto-scroll, mode récitation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EEC664-93CE-4CA1-99D8-D588427A9233}"/>
              </a:ext>
            </a:extLst>
          </p:cNvPr>
          <p:cNvSpPr txBox="1"/>
          <p:nvPr/>
        </p:nvSpPr>
        <p:spPr>
          <a:xfrm>
            <a:off x="4572000" y="2057400"/>
            <a:ext cx="304800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>
                <a:solidFill>
                  <a:srgbClr val="5C6B60"/>
                </a:solidFill>
                <a:latin typeface="Segoe UI"/>
                <a:ea typeface="Segoe UI"/>
              </a:rPr>
              <a:t>Faible cout en mode liste. Sert la revision, la lecture en marchant, la reecoute d'une sourate apprise.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0B6235"/>
                </a:solidFill>
                <a:latin typeface="Segoe UI"/>
                <a:ea typeface="Segoe UI"/>
              </a:rPr>
              <a:t>Preuve : Quran.com le livre deja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F8F7E1E-F095-4ED4-A7E4-090ED8F81598}"/>
              </a:ext>
            </a:extLst>
          </p:cNvPr>
          <p:cNvSpPr/>
          <p:nvPr/>
        </p:nvSpPr>
        <p:spPr>
          <a:xfrm>
            <a:off x="8001000" y="1390650"/>
            <a:ext cx="3429000" cy="200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F4AC150-AAEA-4202-8505-F62666D612C4}"/>
              </a:ext>
            </a:extLst>
          </p:cNvPr>
          <p:cNvSpPr txBox="1"/>
          <p:nvPr/>
        </p:nvSpPr>
        <p:spPr>
          <a:xfrm>
            <a:off x="8191500" y="154305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28332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E1057B8-896D-4574-B75B-8D82B8A89123}"/>
              </a:ext>
            </a:extLst>
          </p:cNvPr>
          <p:cNvSpPr txBox="1"/>
          <p:nvPr/>
        </p:nvSpPr>
        <p:spPr>
          <a:xfrm>
            <a:off x="8572500" y="154305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Écran « Ma progression »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B1E3644-792C-469B-BA37-9B8835035F71}"/>
              </a:ext>
            </a:extLst>
          </p:cNvPr>
          <p:cNvSpPr txBox="1"/>
          <p:nvPr/>
        </p:nvSpPr>
        <p:spPr>
          <a:xfrm>
            <a:off x="8191500" y="2057400"/>
            <a:ext cx="304800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>
                <a:solidFill>
                  <a:srgbClr val="5C6B60"/>
                </a:solidFill>
                <a:latin typeface="Segoe UI"/>
                <a:ea typeface="Segoe UI"/>
              </a:rPr>
              <a:t>Separer lire, apprendre et progresser, au lieu de tout empiler dans les reglages. Une entree de bibliotheque suffit.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0B6235"/>
                </a:solidFill>
                <a:latin typeface="Segoe UI"/>
                <a:ea typeface="Segoe UI"/>
              </a:rPr>
              <a:t>Preuve : MP Read / Learn / My Progress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E499FFB-2E38-485C-94CE-DA8A34F33C80}"/>
              </a:ext>
            </a:extLst>
          </p:cNvPr>
          <p:cNvSpPr/>
          <p:nvPr/>
        </p:nvSpPr>
        <p:spPr>
          <a:xfrm>
            <a:off x="762000" y="3543300"/>
            <a:ext cx="3429000" cy="200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CC40540-B44C-4080-B62C-74B53C72D3D4}"/>
              </a:ext>
            </a:extLst>
          </p:cNvPr>
          <p:cNvSpPr txBox="1"/>
          <p:nvPr/>
        </p:nvSpPr>
        <p:spPr>
          <a:xfrm>
            <a:off x="952500" y="369570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28332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209F15D-DB61-41FD-BCD4-6CA5C408C425}"/>
              </a:ext>
            </a:extLst>
          </p:cNvPr>
          <p:cNvSpPr txBox="1"/>
          <p:nvPr/>
        </p:nvSpPr>
        <p:spPr>
          <a:xfrm>
            <a:off x="1333500" y="369570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Validation par juz ou hizb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EACE2B7-097D-4DE5-8F7C-F9C80A9184AB}"/>
              </a:ext>
            </a:extLst>
          </p:cNvPr>
          <p:cNvSpPr txBox="1"/>
          <p:nvPr/>
        </p:nvSpPr>
        <p:spPr>
          <a:xfrm>
            <a:off x="952500" y="4210050"/>
            <a:ext cx="304800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>
                <a:solidFill>
                  <a:srgbClr val="5C6B60"/>
                </a:solidFill>
                <a:latin typeface="Segoe UI"/>
                <a:ea typeface="Segoe UI"/>
              </a:rPr>
              <a:t>La section lue devient visible dans le fil de lecture, avec une coche, plutot que comme un chiffre cache.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0B6235"/>
                </a:solidFill>
                <a:latin typeface="Segoe UI"/>
                <a:ea typeface="Segoe UI"/>
              </a:rPr>
              <a:t>Preuve : MP coche les sections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083C9A8-45F3-43D5-8ABF-0B038CD75DDB}"/>
              </a:ext>
            </a:extLst>
          </p:cNvPr>
          <p:cNvSpPr/>
          <p:nvPr/>
        </p:nvSpPr>
        <p:spPr>
          <a:xfrm>
            <a:off x="4381500" y="3543300"/>
            <a:ext cx="3429000" cy="200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8607207-ABC2-4867-B930-7397F5A87354}"/>
              </a:ext>
            </a:extLst>
          </p:cNvPr>
          <p:cNvSpPr txBox="1"/>
          <p:nvPr/>
        </p:nvSpPr>
        <p:spPr>
          <a:xfrm>
            <a:off x="4572000" y="369570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28332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B1A3939-0D3A-4ECB-8155-10EECA7C1FC6}"/>
              </a:ext>
            </a:extLst>
          </p:cNvPr>
          <p:cNvSpPr txBox="1"/>
          <p:nvPr/>
        </p:nvSpPr>
        <p:spPr>
          <a:xfrm>
            <a:off x="4953000" y="369570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Plus de langues de traduction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4973DA6-C3A1-41EC-8B96-13973F1C0EE9}"/>
              </a:ext>
            </a:extLst>
          </p:cNvPr>
          <p:cNvSpPr txBox="1"/>
          <p:nvPr/>
        </p:nvSpPr>
        <p:spPr>
          <a:xfrm>
            <a:off x="4572000" y="4210050"/>
            <a:ext cx="3048000" cy="113982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>
                <a:solidFill>
                  <a:srgbClr val="5C6B60"/>
                </a:solidFill>
                <a:latin typeface="Segoe UI"/>
                <a:ea typeface="Segoe UI"/>
              </a:rPr>
              <a:t>Deux chez nous, quarante a cent vingt-six chez eux. Cinq ou six langues de plus (es, id, tr, ur, de) suffisent a changer de rang ; les editions sont deja publiees par resource_id.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0B6235"/>
                </a:solidFill>
                <a:latin typeface="Segoe UI"/>
                <a:ea typeface="Segoe UI"/>
              </a:rPr>
              <a:t>Attention : licence a verifier avant publication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C6363AEF-7BB3-4420-B48A-30A19A098A0A}"/>
              </a:ext>
            </a:extLst>
          </p:cNvPr>
          <p:cNvSpPr/>
          <p:nvPr/>
        </p:nvSpPr>
        <p:spPr>
          <a:xfrm>
            <a:off x="8001000" y="3543300"/>
            <a:ext cx="3429000" cy="2000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E97351E-AF5C-4C93-AAA6-3509BAD32C4C}"/>
              </a:ext>
            </a:extLst>
          </p:cNvPr>
          <p:cNvSpPr txBox="1"/>
          <p:nvPr/>
        </p:nvSpPr>
        <p:spPr>
          <a:xfrm>
            <a:off x="8191500" y="3695700"/>
            <a:ext cx="381000" cy="27432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28332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C95AE82-60F5-4424-8BDE-AAE0749C504A}"/>
              </a:ext>
            </a:extLst>
          </p:cNvPr>
          <p:cNvSpPr txBox="1"/>
          <p:nvPr/>
        </p:nvSpPr>
        <p:spPr>
          <a:xfrm>
            <a:off x="8572500" y="3695700"/>
            <a:ext cx="24765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4231A"/>
                </a:solidFill>
                <a:latin typeface="Segoe UI"/>
                <a:ea typeface="Segoe UI"/>
              </a:rPr>
              <a:t>Calendrier hegirien et Ramadan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9BD6361-7A97-4BF5-BFB9-E99A720FB4D9}"/>
              </a:ext>
            </a:extLst>
          </p:cNvPr>
          <p:cNvSpPr txBox="1"/>
          <p:nvPr/>
        </p:nvSpPr>
        <p:spPr>
          <a:xfrm>
            <a:off x="8191500" y="4210050"/>
            <a:ext cx="304800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>
                <a:solidFill>
                  <a:srgbClr val="5C6B60"/>
                </a:solidFill>
                <a:latin typeface="Segoe UI"/>
                <a:ea typeface="Segoe UI"/>
              </a:rPr>
              <a:t>Les horaires sont deja calcules et caches : il manque l'ecran et le stockage du jene, pas le moteur.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0B6235"/>
                </a:solidFill>
                <a:latin typeface="Segoe UI"/>
                <a:ea typeface="Segoe UI"/>
              </a:rPr>
              <a:t>Preuve : MP Fasting Tracker, QM Suhur/Iftar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D1604FE-A4E5-4487-ABB0-1B9346A9A55F}"/>
              </a:ext>
            </a:extLst>
          </p:cNvPr>
          <p:cNvSpPr txBox="1"/>
          <p:nvPr/>
        </p:nvSpPr>
        <p:spPr>
          <a:xfrm>
            <a:off x="762000" y="575310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Six chantiers, aucun nouveau produit : la moitie de ces cases se remplissent avec des donnees que nous avons deja en cache.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4C6A26E-D25C-406F-90B3-113A2D9B1D77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6F8776E-2811-42B3-A198-9A54DA175B3A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30C795E-6B34-41EF-B353-B844B9DAD1D7}"/>
              </a:ext>
            </a:extLst>
          </p:cNvPr>
          <p:cNvSpPr txBox="1"/>
          <p:nvPr/>
        </p:nvSpPr>
        <p:spPr>
          <a:xfrm>
            <a:off x="762000" y="419100"/>
            <a:ext cx="47625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PRIORITÉS · 2/2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842322B-9C71-4D5C-AE9F-B0714A11154C}"/>
              </a:ext>
            </a:extLst>
          </p:cNvPr>
          <p:cNvSpPr txBox="1"/>
          <p:nvPr/>
        </p:nvSpPr>
        <p:spPr>
          <a:xfrm>
            <a:off x="762000" y="685800"/>
            <a:ext cx="66675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Impact fort, coût moyen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CBCC740-C70B-47D8-AEAC-29A4E248E160}"/>
              </a:ext>
            </a:extLst>
          </p:cNvPr>
          <p:cNvSpPr/>
          <p:nvPr/>
        </p:nvSpPr>
        <p:spPr>
          <a:xfrm>
            <a:off x="762000" y="1333500"/>
            <a:ext cx="10668000" cy="1333500"/>
          </a:xfrm>
          <a:prstGeom prst="roundRect">
            <a:avLst/>
          </a:prstGeom>
          <a:solidFill>
            <a:srgbClr val="0B62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0700435-0F93-4CED-9BA9-9D2EC904C8AC}"/>
              </a:ext>
            </a:extLst>
          </p:cNvPr>
          <p:cNvSpPr txBox="1"/>
          <p:nvPr/>
        </p:nvSpPr>
        <p:spPr>
          <a:xfrm>
            <a:off x="990600" y="1485900"/>
            <a:ext cx="419100" cy="285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9C97A"/>
                </a:solidFill>
                <a:latin typeface="Georgia"/>
                <a:ea typeface="Georgia"/>
              </a:rPr>
              <a:t>07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3F24751-BC4A-4D86-9A1D-DE12352D3506}"/>
              </a:ext>
            </a:extLst>
          </p:cNvPr>
          <p:cNvSpPr txBox="1"/>
          <p:nvPr/>
        </p:nvSpPr>
        <p:spPr>
          <a:xfrm>
            <a:off x="1447800" y="1485900"/>
            <a:ext cx="5715000" cy="285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2E8"/>
                </a:solidFill>
                <a:latin typeface="Segoe UI"/>
                <a:ea typeface="Segoe UI"/>
              </a:rPr>
              <a:t>Boussole Qibla — la seule case vide du trio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B42B3AC-75AD-41EB-BF14-F955204AA449}"/>
              </a:ext>
            </a:extLst>
          </p:cNvPr>
          <p:cNvSpPr txBox="1"/>
          <p:nvPr/>
        </p:nvSpPr>
        <p:spPr>
          <a:xfrm>
            <a:off x="990600" y="1809750"/>
            <a:ext cx="102108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>
                <a:solidFill>
                  <a:srgbClr val="DCE6DA"/>
                </a:solidFill>
                <a:latin typeface="Segoe UI"/>
                <a:ea typeface="Segoe UI"/>
              </a:rPr>
              <a:t>Sur le web : capteur d'orientation + geolocalisation, avec repli affiche quand le capteur est refuse ou absent. A annoncer comme une approximation assumee, jamais comme une boussole native — c'est la seule facon honnete de cocher la case en PWA.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66726AD-F318-4B60-9D8F-E2D72C92E3F6}"/>
              </a:ext>
            </a:extLst>
          </p:cNvPr>
          <p:cNvSpPr/>
          <p:nvPr/>
        </p:nvSpPr>
        <p:spPr>
          <a:xfrm>
            <a:off x="762000" y="285750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BF48110-FF39-4CA8-B8F4-ABB65E9671BD}"/>
              </a:ext>
            </a:extLst>
          </p:cNvPr>
          <p:cNvSpPr txBox="1"/>
          <p:nvPr/>
        </p:nvSpPr>
        <p:spPr>
          <a:xfrm>
            <a:off x="952500" y="3009900"/>
            <a:ext cx="381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28332"/>
                </a:solidFill>
                <a:latin typeface="Georgia"/>
                <a:ea typeface="Georgia"/>
              </a:rPr>
              <a:t>08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0D52B8A-3CEE-4632-AEA1-A6BD3B9C0765}"/>
              </a:ext>
            </a:extLst>
          </p:cNvPr>
          <p:cNvSpPr txBox="1"/>
          <p:nvPr/>
        </p:nvSpPr>
        <p:spPr>
          <a:xfrm>
            <a:off x="1333500" y="3009900"/>
            <a:ext cx="180975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Multi-voix d'adhan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21B0151-FCAA-4FD5-B71F-8A1346A9958F}"/>
              </a:ext>
            </a:extLst>
          </p:cNvPr>
          <p:cNvSpPr txBox="1"/>
          <p:nvPr/>
        </p:nvSpPr>
        <p:spPr>
          <a:xfrm>
            <a:off x="952500" y="3486150"/>
            <a:ext cx="219075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La cle adhanComingSoon est deja dans l'i18n. Ajouter des voix, et dire dans l'UI la limite de lecture en premier plan au lieu de la laisser decouvrir.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46418D6-C2AA-49FF-803B-EDE2381891BF}"/>
              </a:ext>
            </a:extLst>
          </p:cNvPr>
          <p:cNvSpPr/>
          <p:nvPr/>
        </p:nvSpPr>
        <p:spPr>
          <a:xfrm>
            <a:off x="3457575" y="285750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4F31C9F-DEA1-4635-B264-148B001DA61C}"/>
              </a:ext>
            </a:extLst>
          </p:cNvPr>
          <p:cNvSpPr txBox="1"/>
          <p:nvPr/>
        </p:nvSpPr>
        <p:spPr>
          <a:xfrm>
            <a:off x="3648075" y="3009900"/>
            <a:ext cx="381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28332"/>
                </a:solidFill>
                <a:latin typeface="Georgia"/>
                <a:ea typeface="Georgia"/>
              </a:rPr>
              <a:t>09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8638D5D-881A-41FB-8C6B-A4E18E7D8EFB}"/>
              </a:ext>
            </a:extLst>
          </p:cNvPr>
          <p:cNvSpPr txBox="1"/>
          <p:nvPr/>
        </p:nvSpPr>
        <p:spPr>
          <a:xfrm>
            <a:off x="4029075" y="3009900"/>
            <a:ext cx="180975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Recherche hors ligne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5570C2B-3563-4294-B92F-C02D1C27D685}"/>
              </a:ext>
            </a:extLst>
          </p:cNvPr>
          <p:cNvSpPr txBox="1"/>
          <p:nvPr/>
        </p:nvSpPr>
        <p:spPr>
          <a:xfrm>
            <a:off x="3648075" y="3486150"/>
            <a:ext cx="219075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Pre-cacher l'index des traductions et chercher aussi dans le tafsir. Aujourd'hui, seul l'index arabe en cache survit a la coupure reseau.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05022FB-65DE-47B8-A014-D82E99A389AE}"/>
              </a:ext>
            </a:extLst>
          </p:cNvPr>
          <p:cNvSpPr/>
          <p:nvPr/>
        </p:nvSpPr>
        <p:spPr>
          <a:xfrm>
            <a:off x="6153150" y="2857500"/>
            <a:ext cx="25717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2EF78CB-F440-4750-8FD5-4A53C771AC07}"/>
              </a:ext>
            </a:extLst>
          </p:cNvPr>
          <p:cNvSpPr txBox="1"/>
          <p:nvPr/>
        </p:nvSpPr>
        <p:spPr>
          <a:xfrm>
            <a:off x="6343650" y="3009900"/>
            <a:ext cx="381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28332"/>
                </a:solidFill>
                <a:latin typeface="Georgia"/>
                <a:ea typeface="Georgia"/>
              </a:rPr>
              <a:t>10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251BAAB-ACFF-40AA-BB01-7021F90D81D8}"/>
              </a:ext>
            </a:extLst>
          </p:cNvPr>
          <p:cNvSpPr txBox="1"/>
          <p:nvPr/>
        </p:nvSpPr>
        <p:spPr>
          <a:xfrm>
            <a:off x="6724650" y="3009900"/>
            <a:ext cx="180975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Analyse morphologique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85DC5A0-8906-4BD2-BB23-557776AAF5FA}"/>
              </a:ext>
            </a:extLst>
          </p:cNvPr>
          <p:cNvSpPr txBox="1"/>
          <p:nvPr/>
        </p:nvSpPr>
        <p:spPr>
          <a:xfrm>
            <a:off x="6343650" y="3486150"/>
            <a:ext cx="219075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Donnees QUL publiees par Quran.com. Differenciant sur le segment etude, deja servi par huit tafsirs et le mot a mot.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E91F6EE0-8E38-4384-AF8B-13393CD86465}"/>
              </a:ext>
            </a:extLst>
          </p:cNvPr>
          <p:cNvSpPr/>
          <p:nvPr/>
        </p:nvSpPr>
        <p:spPr>
          <a:xfrm>
            <a:off x="8848725" y="2857500"/>
            <a:ext cx="2571750" cy="238125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2833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1A2512F-EDDF-4448-A790-12B74E76C4E7}"/>
              </a:ext>
            </a:extLst>
          </p:cNvPr>
          <p:cNvSpPr txBox="1"/>
          <p:nvPr/>
        </p:nvSpPr>
        <p:spPr>
          <a:xfrm>
            <a:off x="9039225" y="3009900"/>
            <a:ext cx="381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28332"/>
                </a:solidFill>
                <a:latin typeface="Georgia"/>
                <a:ea typeface="Georgia"/>
              </a:rPr>
              <a:t>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B3934BA-19EC-4A4D-B583-5BD15C5116A0}"/>
              </a:ext>
            </a:extLst>
          </p:cNvPr>
          <p:cNvSpPr txBox="1"/>
          <p:nvPr/>
        </p:nvSpPr>
        <p:spPr>
          <a:xfrm>
            <a:off x="9420225" y="3009900"/>
            <a:ext cx="180975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Pre-cachage de Warsh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3E4B793-856D-4C5F-A000-0FD4D4D5AB30}"/>
              </a:ext>
            </a:extLst>
          </p:cNvPr>
          <p:cNvSpPr txBox="1"/>
          <p:nvPr/>
        </p:nvSpPr>
        <p:spPr>
          <a:xfrm>
            <a:off x="9039225" y="3486150"/>
            <a:ext cx="219075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warsh-page-source.json pese 2,76 Mo et n'est pas precache : la premiere page Warsh reclame le reseau. Un defaut d'integrite hors ligne sur notre riwaya signature.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6475416-7712-4DBF-ADCE-E9A48E77FC85}"/>
              </a:ext>
            </a:extLst>
          </p:cNvPr>
          <p:cNvSpPr txBox="1"/>
          <p:nvPr/>
        </p:nvSpPr>
        <p:spPr>
          <a:xfrm>
            <a:off x="762000" y="546735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Le plus rentable de la liste est le dernier : il ne s'agit pas d'ajouter une fonction, mais de tenir une promesse deja faite.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8CEAB2A-4430-447C-84D1-2BB75AB566D7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912727A-0286-44F8-8C8D-F1A1DDC86C25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0978303-36B6-4A89-A642-0FEAB7C1EFCA}"/>
              </a:ext>
            </a:extLst>
          </p:cNvPr>
          <p:cNvSpPr txBox="1"/>
          <p:nvPr/>
        </p:nvSpPr>
        <p:spPr>
          <a:xfrm>
            <a:off x="762000" y="419100"/>
            <a:ext cx="47625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NON-OBJECTIFS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B16D2E1-E857-4A84-A3B8-9221E95870E1}"/>
              </a:ext>
            </a:extLst>
          </p:cNvPr>
          <p:cNvSpPr txBox="1"/>
          <p:nvPr/>
        </p:nvSpPr>
        <p:spPr>
          <a:xfrm>
            <a:off x="762000" y="685800"/>
            <a:ext cx="76200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</a:rPr>
              <a:t>Ce que nous ne ferons pas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43F67DE-F07B-49EF-A2B5-6B5107E2F14B}"/>
              </a:ext>
            </a:extLst>
          </p:cNvPr>
          <p:cNvSpPr txBox="1"/>
          <p:nvPr/>
        </p:nvSpPr>
        <p:spPr>
          <a:xfrm>
            <a:off x="762000" y="1352550"/>
            <a:ext cx="5143500" cy="285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8172"/>
                </a:solidFill>
                <a:latin typeface="Segoe UI"/>
                <a:ea typeface="Segoe UI"/>
              </a:rPr>
              <a:t>Impossible ou non garanti sur le web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EA113E-C566-41F5-B01C-35F868953D6D}"/>
              </a:ext>
            </a:extLst>
          </p:cNvPr>
          <p:cNvSpPr txBox="1"/>
          <p:nvPr/>
        </p:nvSpPr>
        <p:spPr>
          <a:xfrm>
            <a:off x="6286500" y="1352550"/>
            <a:ext cx="5143500" cy="285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8172"/>
                </a:solidFill>
                <a:latin typeface="Segoe UI"/>
                <a:ea typeface="Segoe UI"/>
              </a:rPr>
              <a:t>Hors de notre ligne, volontairement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874F048-0342-41F2-A44B-C94BE9D2E49A}"/>
              </a:ext>
            </a:extLst>
          </p:cNvPr>
          <p:cNvSpPr txBox="1"/>
          <p:nvPr/>
        </p:nvSpPr>
        <p:spPr>
          <a:xfrm>
            <a:off x="762000" y="1676400"/>
            <a:ext cx="51435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Widgets d'ecran d'accueil et d'ecran verrouille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aucun equivalent PWA au lockscreen natif.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Adhan et reveil-matin quand l'app est fermee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une page fermee ne garantit rien ; nous l'affichons au lieu de promettre.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Encre et stylet sur la page du mushaf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latence et support trop instables pour un geste de trace.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Boussole native fidele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capteur d'orientation inegal selon les moteurs de rendu.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Media illimite hors ecran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budgets et strategies de cache sont bornes sciemment.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12E0040-9530-4CDD-A38D-74C01ED83121}"/>
              </a:ext>
            </a:extLst>
          </p:cNvPr>
          <p:cNvSpPr txBox="1"/>
          <p:nvPr/>
        </p:nvSpPr>
        <p:spPr>
          <a:xfrm>
            <a:off x="6286500" y="1676400"/>
            <a:ext cx="51435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Publicite et paywall sur le Coran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c'est la critique n°1 des deux apps commerciales ; notre absence de pub est un atout.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Compte obligatoire et synchronisation cloud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local plus chiffre est un choix, pas un oubli ; l'export JSON le remplace.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Communaute, fil, moderation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un metier d'editeurs et de moderateurs, pas le notre.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Gamification — quetes, points, badges</a:t>
            </a:r>
          </a:p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risque d'instrumentaliser la lecture ; nous gardons la progression factuelle.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>
                <a:solidFill>
                  <a:srgbClr val="14231A"/>
                </a:solidFill>
                <a:latin typeface="Segoe UI"/>
                <a:ea typeface="Segoe UI"/>
              </a:rPr>
              <a:t>Assistant de fatwa par IA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>
                <a:solidFill>
                  <a:srgbClr val="5C6B60"/>
                </a:solidFill>
                <a:latin typeface="Segoe UI"/>
                <a:ea typeface="Segoe UI"/>
              </a:rPr>
              <a:t>aucune source ne valide ce niveau de reponse religieuse.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C115604-FB3C-45FD-B523-C7FDBFD1C7C5}"/>
              </a:ext>
            </a:extLst>
          </p:cNvPr>
          <p:cNvSpPr/>
          <p:nvPr/>
        </p:nvSpPr>
        <p:spPr>
          <a:xfrm>
            <a:off x="762000" y="5524500"/>
            <a:ext cx="10668000" cy="571500"/>
          </a:xfrm>
          <a:prstGeom prst="roundRect">
            <a:avLst/>
          </a:prstGeom>
          <a:solidFill>
            <a:srgbClr val="EAE3D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DD85524-38B5-4C87-B419-4305E00F9838}"/>
              </a:ext>
            </a:extLst>
          </p:cNvPr>
          <p:cNvSpPr txBox="1"/>
          <p:nvPr/>
        </p:nvSpPr>
        <p:spPr>
          <a:xfrm>
            <a:off x="990600" y="5600700"/>
            <a:ext cx="10210800" cy="446227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i="1">
                <a:solidFill>
                  <a:srgbClr val="0B6235"/>
                </a:solidFill>
                <a:latin typeface="Segoe UI"/>
                <a:ea typeface="Segoe UI"/>
              </a:rPr>
              <a:t>Ce refus est une position concurrentielle, pas une carence : Muslim Pro et Quran Majeed sont juges sur leurs publicites et sur un paywall place sur le Coran, et aucun ne peut retirer cela sans se trahir.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3A889F0-13B9-46CE-97AE-70BE9CD78317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4AF271A-FB56-4764-9420-1E67225FB635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41B89C7-09EA-45AB-A1D0-A7D9295877B3}"/>
              </a:ext>
            </a:extLst>
          </p:cNvPr>
          <p:cNvSpPr txBox="1"/>
          <p:nvPr/>
        </p:nvSpPr>
        <p:spPr>
          <a:xfrm>
            <a:off x="762000" y="419100"/>
            <a:ext cx="47625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235"/>
                </a:solidFill>
                <a:latin typeface="Segoe UI"/>
                <a:ea typeface="Segoe UI"/>
              </a:rPr>
              <a:t>MATRICE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61B141-D125-4059-888A-57E5C61768BF}"/>
              </a:ext>
            </a:extLst>
          </p:cNvPr>
          <p:cNvSpPr txBox="1"/>
          <p:nvPr/>
        </p:nvSpPr>
        <p:spPr>
          <a:xfrm>
            <a:off x="762000" y="685800"/>
            <a:ext cx="59055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3200">
                <a:solidFill>
                  <a:srgbClr val="14231A"/>
                </a:solidFill>
                <a:latin typeface="Georgia"/>
                <a:ea typeface="Georgia"/>
                <a:cs typeface="Georgia"/>
              </a:rPr>
              <a:t>Impact contre coût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B07EFC6-4A43-4288-BB90-DD2B9D83951D}"/>
              </a:ext>
            </a:extLst>
          </p:cNvPr>
          <p:cNvSpPr txBox="1"/>
          <p:nvPr/>
        </p:nvSpPr>
        <p:spPr>
          <a:xfrm>
            <a:off x="6858000" y="838200"/>
            <a:ext cx="4572000" cy="24765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100">
                <a:solidFill>
                  <a:srgbClr val="8A8172"/>
                </a:solidFill>
                <a:latin typeface="Segoe UI"/>
                <a:ea typeface="Segoe UI"/>
              </a:rPr>
              <a:t>→ coût croissant · ↓ impact décroissant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D5AD702-D959-4FBF-9AE4-BC9B518EDE2C}"/>
              </a:ext>
            </a:extLst>
          </p:cNvPr>
          <p:cNvSpPr/>
          <p:nvPr/>
        </p:nvSpPr>
        <p:spPr>
          <a:xfrm>
            <a:off x="762000" y="1409700"/>
            <a:ext cx="5334000" cy="18669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623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B9544AA-1CEB-4EEB-B9C8-FD7542892935}"/>
              </a:ext>
            </a:extLst>
          </p:cNvPr>
          <p:cNvSpPr txBox="1"/>
          <p:nvPr/>
        </p:nvSpPr>
        <p:spPr>
          <a:xfrm>
            <a:off x="990600" y="1562100"/>
            <a:ext cx="4876800" cy="1638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0B6235"/>
                </a:solidFill>
                <a:latin typeface="Segoe UI"/>
                <a:ea typeface="Segoe UI"/>
              </a:rPr>
              <a:t>IMPACT FORT · COÛT FAIBLE — la zone à attaquer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Objectifs de lecture, historique et série · auto-scroll en mode liste · écran « Ma progression » sépare de « Lire » · coche par juz ou hizb · cinq ou six langues de traduction de plus · calendrier hégirien et ecran Ramadan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i="1">
                <a:solidFill>
                  <a:srgbClr val="5C6B60"/>
                </a:solidFill>
                <a:latin typeface="Segoe UI"/>
                <a:ea typeface="Segoe UI"/>
              </a:rPr>
              <a:t>Aucune donnée nouvelle : comptage sur ce qui est deja persiste, ecrans branches sur un calcul deja cache.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823E0BA-9B1F-4F21-8DB5-B92CB3FF8D5D}"/>
              </a:ext>
            </a:extLst>
          </p:cNvPr>
          <p:cNvSpPr/>
          <p:nvPr/>
        </p:nvSpPr>
        <p:spPr>
          <a:xfrm>
            <a:off x="6286500" y="1409700"/>
            <a:ext cx="5143500" cy="1866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7C23AD-20B6-4805-B8E4-F97889A48FE5}"/>
              </a:ext>
            </a:extLst>
          </p:cNvPr>
          <p:cNvSpPr txBox="1"/>
          <p:nvPr/>
        </p:nvSpPr>
        <p:spPr>
          <a:xfrm>
            <a:off x="6515100" y="1562100"/>
            <a:ext cx="4686300" cy="1638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B28332"/>
                </a:solidFill>
                <a:latin typeface="Segoe UI"/>
                <a:ea typeface="Segoe UI"/>
              </a:rPr>
              <a:t>IMPACT FORT · COÛT MOYEN — à planifier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Boussole Qibla avec repli affiche · recherche hors ligne etendue et recherche dans le tafsir · multi-voix d'adhan · analyse morphologique et grammaticale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i="1">
                <a:solidFill>
                  <a:srgbClr val="5C6B60"/>
                </a:solidFill>
                <a:latin typeface="Segoe UI"/>
                <a:ea typeface="Segoe UI"/>
              </a:rPr>
              <a:t>Chacun d'eux suppose une decision d'honnetete : dire ce que le web ne garantit pas.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86D7B3A-9C57-4586-808E-74103E6C0CC4}"/>
              </a:ext>
            </a:extLst>
          </p:cNvPr>
          <p:cNvSpPr/>
          <p:nvPr/>
        </p:nvSpPr>
        <p:spPr>
          <a:xfrm>
            <a:off x="762000" y="3429000"/>
            <a:ext cx="533400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E1D535D-4C4D-42FD-AE1F-B50BBF503888}"/>
              </a:ext>
            </a:extLst>
          </p:cNvPr>
          <p:cNvSpPr txBox="1"/>
          <p:nvPr/>
        </p:nvSpPr>
        <p:spPr>
          <a:xfrm>
            <a:off x="990600" y="3581400"/>
            <a:ext cx="4876800" cy="1200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0B6235"/>
                </a:solidFill>
                <a:latin typeface="Segoe UI"/>
                <a:ea typeface="Segoe UI"/>
              </a:rPr>
              <a:t>IMPACT MOYEN · COÛT FAIBLE — bribes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Pre-cachage de warsh-page-source.json · badge de source et reglage par mosquee sur les horaires · expliciter la limite d'adhan en premier plan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i="1">
                <a:solidFill>
                  <a:srgbClr val="5C6B60"/>
                </a:solidFill>
                <a:latin typeface="Segoe UI"/>
                <a:ea typeface="Segoe UI"/>
              </a:rPr>
              <a:t>Ce sont des promesses deja faites, pas des fonctions a inventer.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B51ADED-2254-4049-9444-9A44973DB45E}"/>
              </a:ext>
            </a:extLst>
          </p:cNvPr>
          <p:cNvSpPr/>
          <p:nvPr/>
        </p:nvSpPr>
        <p:spPr>
          <a:xfrm>
            <a:off x="6286500" y="3429000"/>
            <a:ext cx="514350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902CFA8-1442-4025-87C6-A30DEF651AB1}"/>
              </a:ext>
            </a:extLst>
          </p:cNvPr>
          <p:cNvSpPr txBox="1"/>
          <p:nvPr/>
        </p:nvSpPr>
        <p:spPr>
          <a:xfrm>
            <a:off x="6515100" y="3581400"/>
            <a:ext cx="4686300" cy="1200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8A8172"/>
                </a:solidFill>
                <a:latin typeface="Segoe UI"/>
                <a:ea typeface="Segoe UI"/>
              </a:rPr>
              <a:t>COÛT ÉLEVÉ · IMPACT INCERTAIN — hors programme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150">
                <a:solidFill>
                  <a:srgbClr val="14231A"/>
                </a:solidFill>
                <a:latin typeface="Segoe UI"/>
                <a:ea typeface="Segoe UI"/>
              </a:rPr>
              <a:t>Comptes et synchronisation cloud · communauté et moderation · widgets d'ecran · alarmes hors application fermee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i="1">
                <a:solidFill>
                  <a:srgbClr val="5C6B60"/>
                </a:solidFill>
                <a:latin typeface="Segoe UI"/>
                <a:ea typeface="Segoe UI"/>
              </a:rPr>
              <a:t>Hors programme, pas en retard : voir la diapositive 12.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500EAE7-C0BC-47F7-9CA9-5E72661F5AF2}"/>
              </a:ext>
            </a:extLst>
          </p:cNvPr>
          <p:cNvSpPr txBox="1"/>
          <p:nvPr/>
        </p:nvSpPr>
        <p:spPr>
          <a:xfrm>
            <a:off x="762000" y="5105400"/>
            <a:ext cx="10668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i="1">
                <a:solidFill>
                  <a:srgbClr val="0B6235"/>
                </a:solidFill>
                <a:latin typeface="Segoe UI"/>
                <a:ea typeface="Segoe UI"/>
              </a:rPr>
              <a:t>Le premier quadrant tient en six cases et ne demande aucune donnée nouvelle : c'est la zone où le rapport impact-risque est le plus favorable, et donc la décision à prendre maintenant.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77CC58D-B01F-429C-A61A-D3F7D5964916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11AC6DE-69D4-4FAD-BD1C-0C8AD2D11DB7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Segoe UI"/>
                <a:ea typeface="Segoe UI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6060684-D553-440F-9E9F-47BC4CCEC523}"/>
              </a:ext>
            </a:extLst>
          </p:cNvPr>
          <p:cNvSpPr/>
          <p:nvPr/>
        </p:nvSpPr>
        <p:spPr>
          <a:xfrm>
            <a:off x="9144000" y="381000"/>
            <a:ext cx="2476500" cy="2476500"/>
          </a:xfrm>
          <a:prstGeom prst="donut">
            <a:avLst/>
          </a:prstGeom>
          <a:solidFill>
            <a:srgbClr val="0F332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C66855F-360A-45BB-BB7E-B09B6DE663D2}"/>
              </a:ext>
            </a:extLst>
          </p:cNvPr>
          <p:cNvSpPr txBox="1"/>
          <p:nvPr/>
        </p:nvSpPr>
        <p:spPr>
          <a:xfrm>
            <a:off x="762000" y="5334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8332"/>
                </a:solidFill>
                <a:latin typeface="Segoe UI"/>
                <a:ea typeface="Segoe UI"/>
              </a:rPr>
              <a:t>DÉCISION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8995318-99EA-4FD7-AE9E-9A19BC603F27}"/>
              </a:ext>
            </a:extLst>
          </p:cNvPr>
          <p:cNvSpPr txBox="1"/>
          <p:nvPr/>
        </p:nvSpPr>
        <p:spPr>
          <a:xfrm>
            <a:off x="762000" y="838200"/>
            <a:ext cx="6667500" cy="647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4000">
                <a:solidFill>
                  <a:srgbClr val="F4EFE2"/>
                </a:solidFill>
                <a:latin typeface="Georgia"/>
                <a:ea typeface="Georgia"/>
              </a:rPr>
              <a:t>Par où commencer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3AFA266-8891-4A58-808B-86D7BE4B0E45}"/>
              </a:ext>
            </a:extLst>
          </p:cNvPr>
          <p:cNvSpPr txBox="1"/>
          <p:nvPr/>
        </p:nvSpPr>
        <p:spPr>
          <a:xfrm>
            <a:off x="762000" y="1600200"/>
            <a:ext cx="8191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>
                <a:solidFill>
                  <a:srgbClr val="CFC9B8"/>
                </a:solidFill>
                <a:latin typeface="Segoe UI"/>
                <a:ea typeface="Segoe UI"/>
              </a:rPr>
              <a:t>Une seule question à trancher : attaquer maintenant le quadrant impact fort / coût faible, ou laisser la rétention chez Quran.com.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3FF7FB8-EBC2-4C9D-BEC9-8F8745E34CB0}"/>
              </a:ext>
            </a:extLst>
          </p:cNvPr>
          <p:cNvSpPr txBox="1"/>
          <p:nvPr/>
        </p:nvSpPr>
        <p:spPr>
          <a:xfrm>
            <a:off x="762000" y="2286000"/>
            <a:ext cx="457200" cy="304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8DD44FE-B213-499E-8A40-F09AE2848D56}"/>
              </a:ext>
            </a:extLst>
          </p:cNvPr>
          <p:cNvSpPr txBox="1"/>
          <p:nvPr/>
        </p:nvSpPr>
        <p:spPr>
          <a:xfrm>
            <a:off x="1333500" y="2286000"/>
            <a:ext cx="76200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4EFE2"/>
                </a:solidFill>
                <a:latin typeface="Segoe UI"/>
                <a:ea typeface="Segoe UI"/>
              </a:rPr>
              <a:t>Choisir un objectif de lecture comme première brique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AFC6B7"/>
                </a:solidFill>
                <a:latin typeface="Segoe UI"/>
                <a:ea typeface="Segoe UI"/>
              </a:rPr>
              <a:t>comptage sur la position deja persistee : aucun nouveau modèle de données, aucun compte.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9DD8280-6AAD-4891-B8D6-8ECA82DA97DF}"/>
              </a:ext>
            </a:extLst>
          </p:cNvPr>
          <p:cNvSpPr txBox="1"/>
          <p:nvPr/>
        </p:nvSpPr>
        <p:spPr>
          <a:xfrm>
            <a:off x="762000" y="3143250"/>
            <a:ext cx="457200" cy="304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1EBBE04-E3D0-489F-848B-0550A1BE9947}"/>
              </a:ext>
            </a:extLst>
          </p:cNvPr>
          <p:cNvSpPr txBox="1"/>
          <p:nvPr/>
        </p:nvSpPr>
        <p:spPr>
          <a:xfrm>
            <a:off x="1333500" y="3143250"/>
            <a:ext cx="76200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4EFE2"/>
                </a:solidFill>
                <a:latin typeface="Segoe UI"/>
                <a:ea typeface="Segoe UI"/>
              </a:rPr>
              <a:t>Tenir la promesse Warsh hors ligne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AFC6B7"/>
                </a:solidFill>
                <a:latin typeface="Segoe UI"/>
                <a:ea typeface="Segoe UI"/>
              </a:rPr>
              <a:t>pre-cacher warsh-page-source.json avant toute nouvelle fonctionnalité : c'est notre riwaya signature.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AC1942B-3DAD-4030-B352-788017E36763}"/>
              </a:ext>
            </a:extLst>
          </p:cNvPr>
          <p:cNvSpPr txBox="1"/>
          <p:nvPr/>
        </p:nvSpPr>
        <p:spPr>
          <a:xfrm>
            <a:off x="762000" y="4000500"/>
            <a:ext cx="457200" cy="304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28332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68B974-48D3-48E5-A6BA-69B705AF9D1C}"/>
              </a:ext>
            </a:extLst>
          </p:cNvPr>
          <p:cNvSpPr txBox="1"/>
          <p:nvPr/>
        </p:nvSpPr>
        <p:spPr>
          <a:xfrm>
            <a:off x="1333500" y="4000500"/>
            <a:ext cx="76200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4EFE2"/>
                </a:solidFill>
                <a:latin typeface="Segoe UI"/>
                <a:ea typeface="Segoe UI"/>
              </a:rPr>
              <a:t>Annoncer ce que le web ne garantit pas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>
                <a:solidFill>
                  <a:srgbClr val="AFC6B7"/>
                </a:solidFill>
                <a:latin typeface="Segoe UI"/>
                <a:ea typeface="Segoe UI"/>
              </a:rPr>
              <a:t>adhan en premier plan, capteur d'orientation approximatif : la franchise est un avantage, pas un aveu.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07BDD30-5716-411D-8051-1239AE75BB5C}"/>
              </a:ext>
            </a:extLst>
          </p:cNvPr>
          <p:cNvSpPr/>
          <p:nvPr/>
        </p:nvSpPr>
        <p:spPr>
          <a:xfrm>
            <a:off x="762000" y="4953000"/>
            <a:ext cx="10668000" cy="990600"/>
          </a:xfrm>
          <a:prstGeom prst="roundRect">
            <a:avLst/>
          </a:prstGeom>
          <a:solidFill>
            <a:srgbClr val="0F3323"/>
          </a:solidFill>
          <a:ln w="12700">
            <a:solidFill>
              <a:srgbClr val="B2833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9983BBA-B468-4611-B370-D04D48312304}"/>
              </a:ext>
            </a:extLst>
          </p:cNvPr>
          <p:cNvSpPr txBox="1"/>
          <p:nvPr/>
        </p:nvSpPr>
        <p:spPr>
          <a:xfrm>
            <a:off x="990600" y="5086350"/>
            <a:ext cx="10210800" cy="7429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00">
                <a:solidFill>
                  <a:srgbClr val="E9C97A"/>
                </a:solidFill>
                <a:latin typeface="Segoe UI"/>
                <a:ea typeface="Segoe UI"/>
              </a:rPr>
              <a:t>Le détail complet — méthode, sources, hexes mesurés, tableaux, non-objectifs — reste dans docs/CONCURRENT_BENCHMARK.md.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>
                <a:solidFill>
                  <a:srgbClr val="AFC6B7"/>
                </a:solidFill>
                <a:latin typeface="Segoe UI"/>
                <a:ea typeface="Segoe UI"/>
              </a:rPr>
              <a:t>Chaque affirmation de ce deck y est rattachée à une URL ; ce qui n'a pas pu être vérifié y est marqué NON CONFIRMÉ plutôt que supprimé.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67BCF75-0A2B-4374-B571-EBCF16BD3919}"/>
              </a:ext>
            </a:extLst>
          </p:cNvPr>
          <p:cNvSpPr txBox="1"/>
          <p:nvPr/>
        </p:nvSpPr>
        <p:spPr>
          <a:xfrm>
            <a:off x="762000" y="6477000"/>
            <a:ext cx="4381500" cy="2286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5F7364"/>
                </a:solidFill>
                <a:latin typeface="Segoe UI"/>
                <a:ea typeface="Segoe UI"/>
              </a:rPr>
              <a:t>MushafPlus · benchmark concurrentiel · octobre 2026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6A4438C-BF01-4C5B-AA3D-042F68F11A4B}"/>
              </a:ext>
            </a:extLst>
          </p:cNvPr>
          <p:cNvSpPr txBox="1"/>
          <p:nvPr/>
        </p:nvSpPr>
        <p:spPr>
          <a:xfrm>
            <a:off x="11049000" y="6477000"/>
            <a:ext cx="381000" cy="228600"/>
          </a:xfrm>
        </p:spPr>
        <p:txBody>
          <a:bodyPr wrap="square" rtlCol="0" lIns="0" tIns="0" rIns="0" bIns="0" anchor="t"/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5F7364"/>
                </a:solidFill>
                <a:latin typeface="Segoe UI"/>
                <a:ea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